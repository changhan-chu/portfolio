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341" r:id="rId2"/>
    <p:sldId id="257" r:id="rId3"/>
    <p:sldId id="296" r:id="rId4"/>
    <p:sldId id="343" r:id="rId5"/>
    <p:sldId id="342" r:id="rId6"/>
    <p:sldId id="337" r:id="rId7"/>
    <p:sldId id="317" r:id="rId8"/>
    <p:sldId id="311" r:id="rId9"/>
    <p:sldId id="334" r:id="rId10"/>
    <p:sldId id="312" r:id="rId11"/>
    <p:sldId id="335" r:id="rId12"/>
    <p:sldId id="336" r:id="rId13"/>
    <p:sldId id="291" r:id="rId14"/>
    <p:sldId id="325" r:id="rId15"/>
    <p:sldId id="29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보선" initials="김보" lastIdx="1" clrIdx="0">
    <p:extLst>
      <p:ext uri="{19B8F6BF-5375-455C-9EA6-DF929625EA0E}">
        <p15:presenceInfo xmlns:p15="http://schemas.microsoft.com/office/powerpoint/2012/main" userId="65b48e07947f8e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CC00FF"/>
    <a:srgbClr val="5A0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9" autoAdjust="0"/>
    <p:restoredTop sz="94660"/>
  </p:normalViewPr>
  <p:slideViewPr>
    <p:cSldViewPr snapToGrid="0">
      <p:cViewPr varScale="1">
        <p:scale>
          <a:sx n="81" d="100"/>
          <a:sy n="81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B04F8-18ED-4738-BED4-15761FFCBAD2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E43BE-60E4-4335-B145-F1883472C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73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98BA36-8D16-42F8-B317-D9F791038554}" type="slidenum">
              <a:rPr lang="en-GB" altLang="en-US"/>
              <a:pPr>
                <a:spcBef>
                  <a:spcPct val="0"/>
                </a:spcBef>
              </a:pPr>
              <a:t>1</a:t>
            </a:fld>
            <a:endParaRPr lang="en-GB" alt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773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4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16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5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84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21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1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9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11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66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84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95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07F3E66-2772-48D8-86AA-D6478AB21DC4}" type="datetimeFigureOut">
              <a:rPr lang="ko-KR" altLang="en-US" smtClean="0"/>
              <a:t>2020-05-05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FE310-D505-4345-959D-FF207E126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13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jpg"/><Relationship Id="rId12" Type="http://schemas.openxmlformats.org/officeDocument/2006/relationships/image" Target="../media/image33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11" Type="http://schemas.openxmlformats.org/officeDocument/2006/relationships/image" Target="../media/image32.jpg"/><Relationship Id="rId5" Type="http://schemas.openxmlformats.org/officeDocument/2006/relationships/image" Target="../media/image26.jpe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DFF006-F804-41EB-A450-55D26DD381E5}"/>
              </a:ext>
            </a:extLst>
          </p:cNvPr>
          <p:cNvSpPr txBox="1"/>
          <p:nvPr/>
        </p:nvSpPr>
        <p:spPr>
          <a:xfrm>
            <a:off x="3159760" y="2630911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</a:rPr>
              <a:t>주제</a:t>
            </a:r>
            <a:r>
              <a:rPr lang="en-US" altLang="ko-KR" sz="3200" dirty="0">
                <a:solidFill>
                  <a:schemeClr val="bg1"/>
                </a:solidFill>
              </a:rPr>
              <a:t>: </a:t>
            </a:r>
            <a:r>
              <a:rPr lang="ko-KR" altLang="en-US" sz="3200" dirty="0">
                <a:solidFill>
                  <a:schemeClr val="bg1"/>
                </a:solidFill>
              </a:rPr>
              <a:t>대학교 도서 추천시스템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D770C2-B4AF-4255-A571-4CCC0C61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26" y="2208071"/>
            <a:ext cx="9850120" cy="3139441"/>
          </a:xfrm>
          <a:solidFill>
            <a:schemeClr val="bg1">
              <a:alpha val="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시스템 구성</a:t>
            </a:r>
            <a:r>
              <a:rPr lang="en-US" altLang="ko-KR" dirty="0"/>
              <a:t>(</a:t>
            </a:r>
            <a:r>
              <a:rPr lang="ko-KR" altLang="en-US" dirty="0"/>
              <a:t>화면 구성</a:t>
            </a:r>
            <a:r>
              <a:rPr lang="en-US" altLang="ko-KR" dirty="0"/>
              <a:t>)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개발 배경</a:t>
            </a:r>
            <a:r>
              <a:rPr lang="en-US" altLang="ko-KR" dirty="0"/>
              <a:t>(</a:t>
            </a:r>
            <a:r>
              <a:rPr lang="ko-KR" altLang="en-US" dirty="0"/>
              <a:t>동기</a:t>
            </a:r>
            <a:r>
              <a:rPr lang="en-US" altLang="ko-KR" dirty="0"/>
              <a:t>, </a:t>
            </a:r>
            <a:r>
              <a:rPr lang="ko-KR" altLang="en-US" dirty="0"/>
              <a:t>목적 및 기대 효과</a:t>
            </a:r>
            <a:r>
              <a:rPr lang="en-US" altLang="ko-KR" dirty="0"/>
              <a:t>)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프로그램 구성</a:t>
            </a:r>
            <a:r>
              <a:rPr lang="en-US" altLang="ko-KR" dirty="0"/>
              <a:t>(DB, </a:t>
            </a:r>
            <a:r>
              <a:rPr lang="ko-KR" altLang="en-US" dirty="0"/>
              <a:t>흐름도</a:t>
            </a:r>
            <a:r>
              <a:rPr lang="en-US" altLang="ko-KR" dirty="0"/>
              <a:t>, </a:t>
            </a:r>
            <a:r>
              <a:rPr lang="ko-KR" altLang="en-US" dirty="0"/>
              <a:t>개발 환경</a:t>
            </a:r>
            <a:r>
              <a:rPr lang="en-US" altLang="ko-KR" dirty="0"/>
              <a:t>)</a:t>
            </a:r>
          </a:p>
          <a:p>
            <a:endParaRPr lang="en-US" altLang="ko-KR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70272-2072-4A47-B9A6-9BC8253B100B}"/>
              </a:ext>
            </a:extLst>
          </p:cNvPr>
          <p:cNvSpPr txBox="1"/>
          <p:nvPr/>
        </p:nvSpPr>
        <p:spPr>
          <a:xfrm>
            <a:off x="4729113" y="471340"/>
            <a:ext cx="2733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/>
              <a:t>목       차</a:t>
            </a:r>
          </a:p>
        </p:txBody>
      </p:sp>
    </p:spTree>
    <p:extLst>
      <p:ext uri="{BB962C8B-B14F-4D97-AF65-F5344CB8AC3E}">
        <p14:creationId xmlns:p14="http://schemas.microsoft.com/office/powerpoint/2010/main" val="415298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FFC0DEC-E9AB-4E93-8B01-5849A3B89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61" y="1062062"/>
            <a:ext cx="10944437" cy="5282515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212443B8-D875-4EE6-9043-7658D1CBE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541" y="269583"/>
            <a:ext cx="5385567" cy="609600"/>
          </a:xfrm>
          <a:solidFill>
            <a:schemeClr val="bg1">
              <a:alpha val="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3600" dirty="0"/>
              <a:t>시스템 구성</a:t>
            </a:r>
            <a:r>
              <a:rPr lang="en-US" altLang="ko-KR" sz="3600" dirty="0"/>
              <a:t>(</a:t>
            </a:r>
            <a:r>
              <a:rPr lang="ko-KR" altLang="en-US" sz="3600" dirty="0"/>
              <a:t>화면 구성</a:t>
            </a:r>
            <a:r>
              <a:rPr lang="en-US" altLang="ko-KR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070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F7D35DC-A6F0-4739-B07F-23C5AF51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15" y="1194853"/>
            <a:ext cx="10998945" cy="530295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ECFC26B3-2BFF-403F-BE65-E1D67DE2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541" y="269583"/>
            <a:ext cx="5385567" cy="609600"/>
          </a:xfrm>
          <a:solidFill>
            <a:schemeClr val="bg1">
              <a:alpha val="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3600" dirty="0"/>
              <a:t>시스템 구성</a:t>
            </a:r>
            <a:r>
              <a:rPr lang="en-US" altLang="ko-KR" sz="3600" dirty="0"/>
              <a:t>(</a:t>
            </a:r>
            <a:r>
              <a:rPr lang="ko-KR" altLang="en-US" sz="3600" dirty="0"/>
              <a:t>화면 구성</a:t>
            </a:r>
            <a:r>
              <a:rPr lang="en-US" altLang="ko-KR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495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E5378529-A4DF-4C75-9E67-CC1A6D1ABE1E}"/>
              </a:ext>
            </a:extLst>
          </p:cNvPr>
          <p:cNvGrpSpPr/>
          <p:nvPr/>
        </p:nvGrpSpPr>
        <p:grpSpPr>
          <a:xfrm>
            <a:off x="3955926" y="1307986"/>
            <a:ext cx="2086895" cy="2079544"/>
            <a:chOff x="1625600" y="2489581"/>
            <a:chExt cx="2189080" cy="1878839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77A311A-F21B-4B1A-9201-DC89F678E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1819" y="2489581"/>
              <a:ext cx="1842861" cy="1878839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D131F02A-CB88-4115-9DD8-E7E5817E3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5600" y="2905760"/>
              <a:ext cx="1218769" cy="878840"/>
            </a:xfrm>
            <a:prstGeom prst="rect">
              <a:avLst/>
            </a:prstGeom>
          </p:spPr>
        </p:pic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F42D9CA3-683A-4AAD-A619-B33EB4053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123" y="4041742"/>
            <a:ext cx="1913273" cy="1853679"/>
          </a:xfrm>
          <a:prstGeom prst="rect">
            <a:avLst/>
          </a:prstGeom>
        </p:spPr>
      </p:pic>
      <p:sp>
        <p:nvSpPr>
          <p:cNvPr id="31" name="줄무늬가 있는 오른쪽 화살표 25">
            <a:extLst>
              <a:ext uri="{FF2B5EF4-FFF2-40B4-BE49-F238E27FC236}">
                <a16:creationId xmlns:a16="http://schemas.microsoft.com/office/drawing/2014/main" id="{9945E27A-77BB-4DEB-A230-0CAE0DA45E6F}"/>
              </a:ext>
            </a:extLst>
          </p:cNvPr>
          <p:cNvSpPr/>
          <p:nvPr/>
        </p:nvSpPr>
        <p:spPr>
          <a:xfrm rot="5400000">
            <a:off x="4816442" y="3522568"/>
            <a:ext cx="450408" cy="449623"/>
          </a:xfrm>
          <a:prstGeom prst="striped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7F4337-9EB0-4268-8BC2-FE051A1B9F22}"/>
              </a:ext>
            </a:extLst>
          </p:cNvPr>
          <p:cNvSpPr/>
          <p:nvPr/>
        </p:nvSpPr>
        <p:spPr>
          <a:xfrm>
            <a:off x="6393279" y="1816015"/>
            <a:ext cx="54857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○ </a:t>
            </a:r>
            <a:r>
              <a:rPr lang="ko-KR" altLang="en-US" sz="1600" b="1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온라인으로 영화 </a:t>
            </a:r>
            <a:r>
              <a:rPr lang="en-US" altLang="ko-KR" sz="1600" b="1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DVD</a:t>
            </a:r>
            <a:r>
              <a:rPr lang="ko-KR" altLang="en-US" sz="1600" b="1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를 주문</a:t>
            </a:r>
            <a:r>
              <a:rPr lang="en-US" altLang="ko-KR" sz="1600" b="1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600" b="1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우편으로 서비스 제공</a:t>
            </a:r>
            <a:endParaRPr lang="en-US" altLang="ko-KR" sz="1600" b="1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73F7E2D-AA67-4E80-8A9B-51DCA8BAD124}"/>
              </a:ext>
            </a:extLst>
          </p:cNvPr>
          <p:cNvSpPr/>
          <p:nvPr/>
        </p:nvSpPr>
        <p:spPr>
          <a:xfrm>
            <a:off x="6381704" y="2482309"/>
            <a:ext cx="58047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○ 소비자가 주로 찾는 것은 최신작이나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인기작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등으로 한정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</a:rPr>
              <a:t>    → </a:t>
            </a:r>
            <a:r>
              <a:rPr lang="ko-KR" altLang="en-US" sz="1600" dirty="0">
                <a:latin typeface="맑은 고딕" panose="020B0503020000020004" pitchFamily="50" charset="-127"/>
              </a:rPr>
              <a:t>매번 엄청난 신작을 구입비용 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</a:rPr>
              <a:t>    → </a:t>
            </a:r>
            <a:r>
              <a:rPr lang="ko-KR" altLang="en-US" sz="1600" dirty="0">
                <a:latin typeface="맑은 고딕" panose="020B0503020000020004" pitchFamily="50" charset="-127"/>
              </a:rPr>
              <a:t>시간이 지나 관심에서 멀어지면 재고로 쌓이는 악순환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6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D455A64-075E-4267-9BA3-626F89DFC232}"/>
              </a:ext>
            </a:extLst>
          </p:cNvPr>
          <p:cNvSpPr/>
          <p:nvPr/>
        </p:nvSpPr>
        <p:spPr>
          <a:xfrm>
            <a:off x="6393279" y="5206028"/>
            <a:ext cx="4854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○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20% </a:t>
            </a:r>
            <a:r>
              <a:rPr lang="ko-KR" altLang="en-US" sz="1600" b="1" dirty="0">
                <a:latin typeface="맑은 고딕" panose="020B0503020000020004" pitchFamily="50" charset="-127"/>
              </a:rPr>
              <a:t>정도의 소비자가 추천에 의해 잠자고 있던 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r>
              <a:rPr lang="en-US" altLang="ko-KR" sz="1600" b="1" dirty="0">
                <a:latin typeface="맑은 고딕" panose="020B0503020000020004" pitchFamily="50" charset="-127"/>
              </a:rPr>
              <a:t>    </a:t>
            </a:r>
            <a:r>
              <a:rPr lang="ko-KR" altLang="en-US" sz="1600" b="1" dirty="0">
                <a:latin typeface="맑은 고딕" panose="020B0503020000020004" pitchFamily="50" charset="-127"/>
              </a:rPr>
              <a:t>오래된 영화를 보기 시작</a:t>
            </a:r>
            <a:endParaRPr lang="en-US" altLang="ko-KR" sz="1600" b="1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C3D810D-1F58-402D-A449-3E6D51B11928}"/>
              </a:ext>
            </a:extLst>
          </p:cNvPr>
          <p:cNvSpPr/>
          <p:nvPr/>
        </p:nvSpPr>
        <p:spPr>
          <a:xfrm>
            <a:off x="6393279" y="4328731"/>
            <a:ext cx="495520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</a:rPr>
              <a:t>○ 전통적인 같은 배우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</a:rPr>
              <a:t>감독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장르 추천방식이 아닌 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r>
              <a:rPr lang="en-US" altLang="ko-KR" sz="1600" b="1" dirty="0">
                <a:latin typeface="맑은 고딕" panose="020B0503020000020004" pitchFamily="50" charset="-127"/>
              </a:rPr>
              <a:t>   ‘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시네매치</a:t>
            </a:r>
            <a:r>
              <a:rPr lang="en-US" altLang="ko-KR" sz="1600" b="1" dirty="0">
                <a:latin typeface="맑은 고딕" panose="020B0503020000020004" pitchFamily="50" charset="-127"/>
              </a:rPr>
              <a:t>’</a:t>
            </a:r>
            <a:r>
              <a:rPr lang="ko-KR" altLang="en-US" sz="1600" b="1" dirty="0">
                <a:latin typeface="맑은 고딕" panose="020B0503020000020004" pitchFamily="50" charset="-127"/>
              </a:rPr>
              <a:t>라는 자체 추천 알고리즘을 개발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</a:rPr>
              <a:t>    → </a:t>
            </a:r>
            <a:r>
              <a:rPr lang="ko-KR" altLang="en-US" sz="1600" dirty="0">
                <a:latin typeface="맑은 고딕" panose="020B0503020000020004" pitchFamily="50" charset="-127"/>
              </a:rPr>
              <a:t>최신작이나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인기작에</a:t>
            </a:r>
            <a:r>
              <a:rPr lang="ko-KR" altLang="en-US" sz="1600" dirty="0">
                <a:latin typeface="맑은 고딕" panose="020B0503020000020004" pitchFamily="50" charset="-127"/>
              </a:rPr>
              <a:t> 대여가 몰리지 않음</a:t>
            </a:r>
            <a:endParaRPr lang="en-US" altLang="ko-KR" sz="16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8A14CFA5-D6D2-4CF5-AD56-E7D7F9104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867" y="2035719"/>
            <a:ext cx="2596003" cy="705625"/>
          </a:xfrm>
          <a:prstGeom prst="rect">
            <a:avLst/>
          </a:prstGeom>
        </p:spPr>
      </p:pic>
      <p:sp>
        <p:nvSpPr>
          <p:cNvPr id="37" name="줄무늬가 있는 오른쪽 화살표 25">
            <a:extLst>
              <a:ext uri="{FF2B5EF4-FFF2-40B4-BE49-F238E27FC236}">
                <a16:creationId xmlns:a16="http://schemas.microsoft.com/office/drawing/2014/main" id="{E9EA943D-9C68-4F3E-950C-2A3E9A15B840}"/>
              </a:ext>
            </a:extLst>
          </p:cNvPr>
          <p:cNvSpPr/>
          <p:nvPr/>
        </p:nvSpPr>
        <p:spPr>
          <a:xfrm rot="5400000">
            <a:off x="2172349" y="2955239"/>
            <a:ext cx="676433" cy="879228"/>
          </a:xfrm>
          <a:prstGeom prst="striped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C9171C4-9928-48E7-8F5C-6C8B7C08F313}"/>
              </a:ext>
            </a:extLst>
          </p:cNvPr>
          <p:cNvSpPr/>
          <p:nvPr/>
        </p:nvSpPr>
        <p:spPr>
          <a:xfrm>
            <a:off x="1127465" y="3901784"/>
            <a:ext cx="2682145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000" b="1" dirty="0">
                <a:latin typeface="맑은 고딕" panose="020B0503020000020004" pitchFamily="50" charset="-127"/>
              </a:rPr>
              <a:t>약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80%</a:t>
            </a:r>
            <a:r>
              <a:rPr lang="en-US" altLang="ko-KR" sz="2000" b="1" dirty="0">
                <a:latin typeface="맑은 고딕" panose="020B0503020000020004" pitchFamily="50" charset="-127"/>
              </a:rPr>
              <a:t> </a:t>
            </a:r>
            <a:r>
              <a:rPr lang="ko-KR" altLang="en-US" sz="2000" b="1" dirty="0">
                <a:latin typeface="맑은 고딕" panose="020B0503020000020004" pitchFamily="50" charset="-127"/>
              </a:rPr>
              <a:t>의 소비자</a:t>
            </a:r>
            <a:endParaRPr lang="en-US" altLang="ko-KR" sz="2000" b="1" dirty="0">
              <a:latin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추천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’</a:t>
            </a: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의해 영화를 시청</a:t>
            </a:r>
            <a:endParaRPr lang="en-US" altLang="ko-KR" sz="1600" b="1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0737961-79CA-442C-A931-2149281F67E7}"/>
              </a:ext>
            </a:extLst>
          </p:cNvPr>
          <p:cNvSpPr/>
          <p:nvPr/>
        </p:nvSpPr>
        <p:spPr>
          <a:xfrm>
            <a:off x="1127465" y="4660804"/>
            <a:ext cx="2682145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000" b="1" dirty="0">
                <a:latin typeface="맑은 고딕" panose="020B0503020000020004" pitchFamily="50" charset="-127"/>
              </a:rPr>
              <a:t>약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20%</a:t>
            </a:r>
            <a:r>
              <a:rPr lang="en-US" altLang="ko-KR" sz="2000" b="1" dirty="0">
                <a:latin typeface="맑은 고딕" panose="020B0503020000020004" pitchFamily="50" charset="-127"/>
              </a:rPr>
              <a:t> </a:t>
            </a:r>
            <a:r>
              <a:rPr lang="ko-KR" altLang="en-US" sz="2000" b="1" dirty="0">
                <a:latin typeface="맑은 고딕" panose="020B0503020000020004" pitchFamily="50" charset="-127"/>
              </a:rPr>
              <a:t>의 소비자</a:t>
            </a:r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’</a:t>
            </a: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의해 영화를 시청</a:t>
            </a:r>
            <a:endParaRPr lang="en-US" altLang="ko-KR" sz="1600" b="1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2" name="제목 1">
            <a:extLst>
              <a:ext uri="{FF2B5EF4-FFF2-40B4-BE49-F238E27FC236}">
                <a16:creationId xmlns:a16="http://schemas.microsoft.com/office/drawing/2014/main" id="{ED05BBEC-A08E-4534-B0F3-A1F7D137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199" y="591170"/>
            <a:ext cx="3947161" cy="609600"/>
          </a:xfrm>
          <a:solidFill>
            <a:schemeClr val="bg1">
              <a:alpha val="0"/>
            </a:schemeClr>
          </a:solidFill>
        </p:spPr>
        <p:txBody>
          <a:bodyPr>
            <a:noAutofit/>
          </a:bodyPr>
          <a:lstStyle/>
          <a:p>
            <a:r>
              <a:rPr lang="ko-KR" altLang="en-US" sz="3600" dirty="0" err="1"/>
              <a:t>추천시스템이란</a:t>
            </a:r>
            <a:r>
              <a:rPr lang="en-US" altLang="ko-KR" sz="3600" dirty="0"/>
              <a:t>?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667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306B1269-9A23-410B-B1E6-B9EF1750929A}"/>
              </a:ext>
            </a:extLst>
          </p:cNvPr>
          <p:cNvSpPr txBox="1"/>
          <p:nvPr/>
        </p:nvSpPr>
        <p:spPr>
          <a:xfrm>
            <a:off x="1451290" y="1176107"/>
            <a:ext cx="8691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빅데이터를 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기반으로한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개인 맞춤형 아이템 제안 서비스</a:t>
            </a:r>
            <a:endParaRPr lang="en-US" altLang="ko-KR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791EEE-9188-40EC-ACF1-F56584B01AB3}"/>
              </a:ext>
            </a:extLst>
          </p:cNvPr>
          <p:cNvSpPr txBox="1"/>
          <p:nvPr/>
        </p:nvSpPr>
        <p:spPr>
          <a:xfrm>
            <a:off x="1019213" y="1987221"/>
            <a:ext cx="3491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●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추천시스템의 효과</a:t>
            </a:r>
            <a:endParaRPr lang="en-US" altLang="ko-KR" sz="22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545E26-C8F9-4CD8-AA04-ABA83875AE14}"/>
              </a:ext>
            </a:extLst>
          </p:cNvPr>
          <p:cNvSpPr/>
          <p:nvPr/>
        </p:nvSpPr>
        <p:spPr>
          <a:xfrm>
            <a:off x="5248181" y="4125048"/>
            <a:ext cx="64918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solidFill>
                  <a:srgbClr val="141414"/>
                </a:solidFill>
                <a:latin typeface="se-nanummyeongjo"/>
              </a:rPr>
              <a:t>▷ '</a:t>
            </a:r>
            <a:r>
              <a:rPr lang="ko-KR" altLang="en-US" b="1" dirty="0" err="1">
                <a:solidFill>
                  <a:srgbClr val="141414"/>
                </a:solidFill>
                <a:latin typeface="inherit"/>
              </a:rPr>
              <a:t>롱테일</a:t>
            </a:r>
            <a:r>
              <a:rPr lang="en-US" altLang="ko-KR" b="1" dirty="0">
                <a:solidFill>
                  <a:srgbClr val="141414"/>
                </a:solidFill>
                <a:latin typeface="inherit"/>
              </a:rPr>
              <a:t>long tail</a:t>
            </a:r>
            <a:r>
              <a:rPr lang="en-US" altLang="ko-KR" dirty="0">
                <a:solidFill>
                  <a:srgbClr val="141414"/>
                </a:solidFill>
                <a:latin typeface="se-nanummyeongjo"/>
              </a:rPr>
              <a:t>’ : </a:t>
            </a:r>
            <a:r>
              <a:rPr lang="ko-KR" altLang="en-US" b="1" dirty="0">
                <a:solidFill>
                  <a:srgbClr val="141414"/>
                </a:solidFill>
                <a:latin typeface="inherit"/>
              </a:rPr>
              <a:t>인터넷과 디지털 유통</a:t>
            </a:r>
            <a:r>
              <a:rPr lang="ko-KR" altLang="en-US" dirty="0">
                <a:solidFill>
                  <a:srgbClr val="141414"/>
                </a:solidFill>
                <a:latin typeface="inherit"/>
              </a:rPr>
              <a:t>으로 그동안 </a:t>
            </a:r>
            <a:endParaRPr lang="en-US" altLang="ko-KR" dirty="0">
              <a:solidFill>
                <a:srgbClr val="141414"/>
              </a:solidFill>
              <a:latin typeface="inherit"/>
            </a:endParaRPr>
          </a:p>
          <a:p>
            <a:pPr fontAlgn="base"/>
            <a:r>
              <a:rPr lang="en-US" altLang="ko-KR" dirty="0">
                <a:solidFill>
                  <a:srgbClr val="141414"/>
                </a:solidFill>
                <a:latin typeface="inherit"/>
              </a:rPr>
              <a:t>     </a:t>
            </a:r>
            <a:r>
              <a:rPr lang="ko-KR" altLang="en-US" dirty="0">
                <a:solidFill>
                  <a:srgbClr val="141414"/>
                </a:solidFill>
                <a:latin typeface="inherit"/>
              </a:rPr>
              <a:t>주목받지 못했던 다양한 </a:t>
            </a:r>
            <a:r>
              <a:rPr lang="ko-KR" altLang="en-US" dirty="0">
                <a:solidFill>
                  <a:srgbClr val="FF0000"/>
                </a:solidFill>
                <a:latin typeface="inherit"/>
              </a:rPr>
              <a:t>비주류 상품이 틈새시장</a:t>
            </a:r>
            <a:r>
              <a:rPr lang="ko-KR" altLang="en-US" dirty="0">
                <a:solidFill>
                  <a:srgbClr val="141414"/>
                </a:solidFill>
                <a:latin typeface="inherit"/>
              </a:rPr>
              <a:t>을 만들고</a:t>
            </a:r>
            <a:r>
              <a:rPr lang="en-US" altLang="ko-KR" dirty="0">
                <a:solidFill>
                  <a:srgbClr val="141414"/>
                </a:solidFill>
                <a:latin typeface="inherit"/>
              </a:rPr>
              <a:t>, </a:t>
            </a:r>
          </a:p>
          <a:p>
            <a:pPr fontAlgn="base"/>
            <a:r>
              <a:rPr lang="en-US" altLang="ko-KR" dirty="0">
                <a:solidFill>
                  <a:srgbClr val="141414"/>
                </a:solidFill>
                <a:latin typeface="inherit"/>
              </a:rPr>
              <a:t>     </a:t>
            </a:r>
            <a:r>
              <a:rPr lang="ko-KR" altLang="en-US" dirty="0">
                <a:solidFill>
                  <a:srgbClr val="141414"/>
                </a:solidFill>
                <a:latin typeface="inherit"/>
              </a:rPr>
              <a:t>전통적인 </a:t>
            </a:r>
            <a:r>
              <a:rPr lang="ko-KR" altLang="en-US" dirty="0">
                <a:solidFill>
                  <a:srgbClr val="FF0000"/>
                </a:solidFill>
                <a:latin typeface="inherit"/>
              </a:rPr>
              <a:t>주류 상품의 수요를 초과</a:t>
            </a:r>
            <a:r>
              <a:rPr lang="ko-KR" altLang="en-US" dirty="0">
                <a:solidFill>
                  <a:srgbClr val="141414"/>
                </a:solidFill>
                <a:latin typeface="inherit"/>
              </a:rPr>
              <a:t>하는 현상</a:t>
            </a:r>
            <a:r>
              <a:rPr lang="ko-KR" altLang="en-US" dirty="0">
                <a:solidFill>
                  <a:srgbClr val="141414"/>
                </a:solidFill>
                <a:latin typeface="se-nanummyeongjo"/>
              </a:rPr>
              <a:t>이 발생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E831E06-CDEF-462F-89A9-24483006E0EF}"/>
              </a:ext>
            </a:extLst>
          </p:cNvPr>
          <p:cNvSpPr/>
          <p:nvPr/>
        </p:nvSpPr>
        <p:spPr>
          <a:xfrm>
            <a:off x="1291155" y="2452432"/>
            <a:ext cx="106159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2000" b="1" dirty="0">
                <a:solidFill>
                  <a:srgbClr val="141414"/>
                </a:solidFill>
                <a:latin typeface="inherit"/>
              </a:rPr>
              <a:t>개인 맞춤형 아이템을 추천하여 소비자의 기호와 취향을 극적으로 확대하여 </a:t>
            </a:r>
            <a:r>
              <a:rPr lang="ko-KR" altLang="en-US" sz="2000" b="1" dirty="0">
                <a:solidFill>
                  <a:srgbClr val="FF0000"/>
                </a:solidFill>
                <a:latin typeface="inherit"/>
              </a:rPr>
              <a:t>비주류 상품에 대한 </a:t>
            </a:r>
            <a:r>
              <a:rPr lang="en-US" altLang="ko-KR" sz="2000" b="1" dirty="0">
                <a:solidFill>
                  <a:srgbClr val="FF0000"/>
                </a:solidFill>
                <a:latin typeface="inherit"/>
              </a:rPr>
              <a:t>‘</a:t>
            </a:r>
            <a:r>
              <a:rPr lang="ko-KR" altLang="en-US" sz="2000" b="1" dirty="0">
                <a:solidFill>
                  <a:srgbClr val="FF0000"/>
                </a:solidFill>
                <a:latin typeface="inherit"/>
              </a:rPr>
              <a:t>새로운 수요</a:t>
            </a:r>
            <a:r>
              <a:rPr lang="en-US" altLang="ko-KR" sz="2000" b="1" dirty="0">
                <a:solidFill>
                  <a:srgbClr val="FF0000"/>
                </a:solidFill>
                <a:latin typeface="inherit"/>
              </a:rPr>
              <a:t>’</a:t>
            </a:r>
            <a:r>
              <a:rPr lang="en-US" altLang="ko-KR" sz="2000" b="1" dirty="0">
                <a:solidFill>
                  <a:srgbClr val="141414"/>
                </a:solidFill>
                <a:latin typeface="inherit"/>
              </a:rPr>
              <a:t> </a:t>
            </a:r>
            <a:r>
              <a:rPr lang="ko-KR" altLang="en-US" sz="2000" b="1" dirty="0">
                <a:solidFill>
                  <a:srgbClr val="141414"/>
                </a:solidFill>
                <a:latin typeface="inherit"/>
              </a:rPr>
              <a:t>가 만들어지며 이를 통해 </a:t>
            </a:r>
            <a:r>
              <a:rPr lang="en-US" altLang="ko-KR" sz="2000" b="1" dirty="0">
                <a:solidFill>
                  <a:srgbClr val="FF0000"/>
                </a:solidFill>
                <a:latin typeface="inherit"/>
              </a:rPr>
              <a:t>‘</a:t>
            </a:r>
            <a:r>
              <a:rPr lang="ko-KR" altLang="en-US" sz="2000" b="1" dirty="0">
                <a:solidFill>
                  <a:srgbClr val="FF0000"/>
                </a:solidFill>
                <a:latin typeface="inherit"/>
              </a:rPr>
              <a:t>수익 창출</a:t>
            </a:r>
            <a:r>
              <a:rPr lang="en-US" altLang="ko-KR" sz="2000" b="1" dirty="0">
                <a:solidFill>
                  <a:srgbClr val="FF0000"/>
                </a:solidFill>
                <a:latin typeface="inherit"/>
              </a:rPr>
              <a:t>’</a:t>
            </a:r>
            <a:r>
              <a:rPr lang="ko-KR" altLang="en-US" sz="2000" b="1" dirty="0">
                <a:solidFill>
                  <a:srgbClr val="141414"/>
                </a:solidFill>
                <a:latin typeface="inherit"/>
              </a:rPr>
              <a:t>을 이끈다</a:t>
            </a:r>
            <a:r>
              <a:rPr lang="en-US" altLang="ko-KR" sz="2000" b="1" dirty="0">
                <a:solidFill>
                  <a:srgbClr val="141414"/>
                </a:solidFill>
                <a:latin typeface="inherit"/>
              </a:rPr>
              <a:t>.</a:t>
            </a:r>
            <a:endParaRPr lang="ko-KR" altLang="en-US" sz="200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7CB23D7F-9F7F-462B-A37C-CDB60DA38C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66"/>
          <a:stretch/>
        </p:blipFill>
        <p:spPr>
          <a:xfrm>
            <a:off x="2266804" y="3199007"/>
            <a:ext cx="2171227" cy="187016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BA3E086-72A5-4918-9DAB-8D253F1A60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94"/>
          <a:stretch/>
        </p:blipFill>
        <p:spPr>
          <a:xfrm>
            <a:off x="1646084" y="4366506"/>
            <a:ext cx="908901" cy="773531"/>
          </a:xfrm>
          <a:prstGeom prst="rect">
            <a:avLst/>
          </a:prstGeom>
        </p:spPr>
      </p:pic>
      <p:sp>
        <p:nvSpPr>
          <p:cNvPr id="35" name="줄무늬가 있는 오른쪽 화살표 25">
            <a:extLst>
              <a:ext uri="{FF2B5EF4-FFF2-40B4-BE49-F238E27FC236}">
                <a16:creationId xmlns:a16="http://schemas.microsoft.com/office/drawing/2014/main" id="{F155C1CD-D816-4ABB-A7D3-6B3877F15C3A}"/>
              </a:ext>
            </a:extLst>
          </p:cNvPr>
          <p:cNvSpPr/>
          <p:nvPr/>
        </p:nvSpPr>
        <p:spPr>
          <a:xfrm rot="5400000">
            <a:off x="2523176" y="4695472"/>
            <a:ext cx="400112" cy="322993"/>
          </a:xfrm>
          <a:prstGeom prst="striped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줄무늬가 있는 오른쪽 화살표 25">
            <a:extLst>
              <a:ext uri="{FF2B5EF4-FFF2-40B4-BE49-F238E27FC236}">
                <a16:creationId xmlns:a16="http://schemas.microsoft.com/office/drawing/2014/main" id="{FA04CCD3-9526-4A56-ACAD-C97E72A308C1}"/>
              </a:ext>
            </a:extLst>
          </p:cNvPr>
          <p:cNvSpPr/>
          <p:nvPr/>
        </p:nvSpPr>
        <p:spPr>
          <a:xfrm rot="5400000">
            <a:off x="2498030" y="5319543"/>
            <a:ext cx="450408" cy="449623"/>
          </a:xfrm>
          <a:prstGeom prst="strip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20C578BC-34D9-4E91-8AED-F3DD8EAA446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4" t="19526" r="17002" b="30156"/>
          <a:stretch/>
        </p:blipFill>
        <p:spPr>
          <a:xfrm>
            <a:off x="1494654" y="5225879"/>
            <a:ext cx="872727" cy="636949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A9538FA5-105E-43C4-BC32-AF44570D76D2}"/>
              </a:ext>
            </a:extLst>
          </p:cNvPr>
          <p:cNvGrpSpPr/>
          <p:nvPr/>
        </p:nvGrpSpPr>
        <p:grpSpPr>
          <a:xfrm>
            <a:off x="3915456" y="4205039"/>
            <a:ext cx="161925" cy="375639"/>
            <a:chOff x="3526155" y="3669354"/>
            <a:chExt cx="161925" cy="375639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01EF43C-774D-487A-AAE0-118D90C7C588}"/>
                </a:ext>
              </a:extLst>
            </p:cNvPr>
            <p:cNvSpPr/>
            <p:nvPr/>
          </p:nvSpPr>
          <p:spPr>
            <a:xfrm rot="18915908">
              <a:off x="3570419" y="3849326"/>
              <a:ext cx="62603" cy="5596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809526F-5AD1-49CD-9ED4-D930FFAE4738}"/>
                </a:ext>
              </a:extLst>
            </p:cNvPr>
            <p:cNvSpPr/>
            <p:nvPr/>
          </p:nvSpPr>
          <p:spPr>
            <a:xfrm rot="18915908">
              <a:off x="3572959" y="3989025"/>
              <a:ext cx="62603" cy="5596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81D9CB43-08FB-4519-9038-EFC4BB715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3653" y="3696024"/>
              <a:ext cx="44427" cy="63176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3D09AC70-9D24-4AC7-8486-9C18C9C04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8496" y="3669354"/>
              <a:ext cx="0" cy="69849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6C4393A-C196-4E5C-84B8-9F0CA2B589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6155" y="3696024"/>
              <a:ext cx="41200" cy="63177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6ED714E-75AD-4B8E-A22C-B6A051314A45}"/>
              </a:ext>
            </a:extLst>
          </p:cNvPr>
          <p:cNvSpPr/>
          <p:nvPr/>
        </p:nvSpPr>
        <p:spPr>
          <a:xfrm>
            <a:off x="5248181" y="5213401"/>
            <a:ext cx="6735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solidFill>
                  <a:srgbClr val="141414"/>
                </a:solidFill>
                <a:latin typeface="se-nanummyeongjo"/>
              </a:rPr>
              <a:t>▷ ’</a:t>
            </a:r>
            <a:r>
              <a:rPr lang="ko-KR" altLang="en-US" b="1" dirty="0">
                <a:solidFill>
                  <a:srgbClr val="141414"/>
                </a:solidFill>
                <a:latin typeface="inherit"/>
              </a:rPr>
              <a:t>추천시스템 </a:t>
            </a:r>
            <a:r>
              <a:rPr lang="en-US" altLang="ko-KR" b="1" dirty="0">
                <a:solidFill>
                  <a:srgbClr val="141414"/>
                </a:solidFill>
                <a:latin typeface="inherit"/>
              </a:rPr>
              <a:t>recommend system</a:t>
            </a:r>
            <a:r>
              <a:rPr lang="en-US" altLang="ko-KR" dirty="0">
                <a:solidFill>
                  <a:srgbClr val="141414"/>
                </a:solidFill>
                <a:latin typeface="se-nanummyeongjo"/>
              </a:rPr>
              <a:t>’ : </a:t>
            </a:r>
            <a:r>
              <a:rPr lang="ko-KR" altLang="en-US" dirty="0">
                <a:solidFill>
                  <a:srgbClr val="141414"/>
                </a:solidFill>
                <a:latin typeface="se-nanummyeongjo"/>
              </a:rPr>
              <a:t>비주류 상품에 대한 새로운</a:t>
            </a:r>
            <a:endParaRPr lang="en-US" altLang="ko-KR" dirty="0">
              <a:solidFill>
                <a:srgbClr val="141414"/>
              </a:solidFill>
              <a:latin typeface="se-nanummyeongjo"/>
            </a:endParaRPr>
          </a:p>
          <a:p>
            <a:pPr fontAlgn="base"/>
            <a:r>
              <a:rPr lang="en-US" altLang="ko-KR" dirty="0">
                <a:solidFill>
                  <a:srgbClr val="141414"/>
                </a:solidFill>
                <a:latin typeface="se-nanummyeongjo"/>
              </a:rPr>
              <a:t>    </a:t>
            </a:r>
            <a:r>
              <a:rPr lang="ko-KR" altLang="en-US" dirty="0">
                <a:solidFill>
                  <a:srgbClr val="141414"/>
                </a:solidFill>
                <a:latin typeface="se-nanummyeongjo"/>
              </a:rPr>
              <a:t> 수요가 만들어져 </a:t>
            </a:r>
            <a:r>
              <a:rPr lang="ko-KR" altLang="en-US" b="1" dirty="0" err="1">
                <a:solidFill>
                  <a:srgbClr val="FF0000"/>
                </a:solidFill>
                <a:latin typeface="se-nanummyeongjo"/>
              </a:rPr>
              <a:t>롱테일</a:t>
            </a:r>
            <a:r>
              <a:rPr lang="ko-KR" altLang="en-US" b="1" dirty="0">
                <a:solidFill>
                  <a:srgbClr val="FF0000"/>
                </a:solidFill>
                <a:latin typeface="se-nanummyeongjo"/>
              </a:rPr>
              <a:t> 현상의 촉매제 역할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수익 창출</a:t>
            </a:r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994D6DC-43F2-4126-908B-E206D81F1356}"/>
              </a:ext>
            </a:extLst>
          </p:cNvPr>
          <p:cNvSpPr/>
          <p:nvPr/>
        </p:nvSpPr>
        <p:spPr>
          <a:xfrm>
            <a:off x="5248181" y="3337693"/>
            <a:ext cx="6735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solidFill>
                  <a:srgbClr val="141414"/>
                </a:solidFill>
                <a:latin typeface="se-nanummyeongjo"/>
              </a:rPr>
              <a:t>▷ ’</a:t>
            </a:r>
            <a:r>
              <a:rPr lang="ko-KR" altLang="en-US" b="1" dirty="0">
                <a:solidFill>
                  <a:srgbClr val="141414"/>
                </a:solidFill>
                <a:latin typeface="inherit"/>
              </a:rPr>
              <a:t>파레토 법칙 </a:t>
            </a:r>
            <a:r>
              <a:rPr lang="en-US" altLang="ko-KR" b="1" dirty="0">
                <a:solidFill>
                  <a:srgbClr val="141414"/>
                </a:solidFill>
                <a:latin typeface="inherit"/>
              </a:rPr>
              <a:t>pareto law’ </a:t>
            </a:r>
            <a:r>
              <a:rPr lang="en-US" altLang="ko-KR" dirty="0">
                <a:solidFill>
                  <a:srgbClr val="141414"/>
                </a:solidFill>
                <a:latin typeface="se-nanummyeongjo"/>
              </a:rPr>
              <a:t> : </a:t>
            </a:r>
            <a:r>
              <a:rPr lang="ko-KR" altLang="en-US" dirty="0">
                <a:solidFill>
                  <a:srgbClr val="141414"/>
                </a:solidFill>
                <a:latin typeface="se-nanummyeongjo"/>
              </a:rPr>
              <a:t>주류 상품의 매출액이 전체 매출액의</a:t>
            </a:r>
            <a:endParaRPr lang="en-US" altLang="ko-KR" dirty="0">
              <a:solidFill>
                <a:srgbClr val="141414"/>
              </a:solidFill>
              <a:latin typeface="se-nanummyeongjo"/>
            </a:endParaRPr>
          </a:p>
          <a:p>
            <a:pPr fontAlgn="base"/>
            <a:r>
              <a:rPr lang="en-US" altLang="ko-KR" dirty="0">
                <a:solidFill>
                  <a:srgbClr val="141414"/>
                </a:solidFill>
                <a:latin typeface="se-nanummyeongjo"/>
              </a:rPr>
              <a:t>   </a:t>
            </a:r>
            <a:r>
              <a:rPr lang="ko-KR" altLang="en-US" dirty="0">
                <a:solidFill>
                  <a:srgbClr val="141414"/>
                </a:solidFill>
                <a:latin typeface="se-nanummyeongjo"/>
              </a:rPr>
              <a:t>  대부분을 차지하는 현상</a:t>
            </a:r>
            <a:endParaRPr lang="ko-KR" altLang="en-US" dirty="0"/>
          </a:p>
        </p:txBody>
      </p:sp>
      <p:sp>
        <p:nvSpPr>
          <p:cNvPr id="46" name="제목 1">
            <a:extLst>
              <a:ext uri="{FF2B5EF4-FFF2-40B4-BE49-F238E27FC236}">
                <a16:creationId xmlns:a16="http://schemas.microsoft.com/office/drawing/2014/main" id="{33BC7F77-A20F-4E24-8D5E-462982879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199" y="591170"/>
            <a:ext cx="3947161" cy="609600"/>
          </a:xfrm>
          <a:solidFill>
            <a:schemeClr val="bg1">
              <a:alpha val="0"/>
            </a:schemeClr>
          </a:solidFill>
        </p:spPr>
        <p:txBody>
          <a:bodyPr>
            <a:noAutofit/>
          </a:bodyPr>
          <a:lstStyle/>
          <a:p>
            <a:r>
              <a:rPr lang="ko-KR" altLang="en-US" sz="3600" dirty="0" err="1"/>
              <a:t>추천시스템이란</a:t>
            </a:r>
            <a:r>
              <a:rPr lang="en-US" altLang="ko-KR" sz="3600" dirty="0"/>
              <a:t>?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4094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322BB7D9-077F-4DA9-BBC2-891E9B271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586910"/>
            <a:ext cx="2331497" cy="609600"/>
          </a:xfrm>
          <a:solidFill>
            <a:schemeClr val="bg1">
              <a:alpha val="0"/>
            </a:schemeClr>
          </a:solidFill>
        </p:spPr>
        <p:txBody>
          <a:bodyPr>
            <a:noAutofit/>
          </a:bodyPr>
          <a:lstStyle/>
          <a:p>
            <a:r>
              <a:rPr lang="ko-KR" altLang="en-US" sz="3600" dirty="0"/>
              <a:t>개발</a:t>
            </a:r>
            <a:r>
              <a:rPr lang="ko-KR" altLang="en-US" sz="3200" dirty="0"/>
              <a:t> </a:t>
            </a:r>
            <a:r>
              <a:rPr lang="ko-KR" altLang="en-US" sz="3600" dirty="0"/>
              <a:t>배경</a:t>
            </a:r>
            <a:endParaRPr lang="ko-KR" altLang="en-US" sz="3200" dirty="0"/>
          </a:p>
        </p:txBody>
      </p:sp>
      <p:pic>
        <p:nvPicPr>
          <p:cNvPr id="17" name="_x320733176" descr="EMB00003ae4189c">
            <a:extLst>
              <a:ext uri="{FF2B5EF4-FFF2-40B4-BE49-F238E27FC236}">
                <a16:creationId xmlns:a16="http://schemas.microsoft.com/office/drawing/2014/main" id="{BC587A85-877D-4202-9544-D85FF86BB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013" y="1991168"/>
            <a:ext cx="3273956" cy="196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A7D7C5-F91F-4F5F-AC43-7D680179D465}"/>
              </a:ext>
            </a:extLst>
          </p:cNvPr>
          <p:cNvSpPr/>
          <p:nvPr/>
        </p:nvSpPr>
        <p:spPr>
          <a:xfrm>
            <a:off x="1472288" y="4081286"/>
            <a:ext cx="32739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56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 대출이 발생하는 동안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권의 책 중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권만이 대출되고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있는 상태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(10%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책만 활용 중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400" b="1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9C1ED7-3F88-4EEC-8096-98DC2BB9109F}"/>
              </a:ext>
            </a:extLst>
          </p:cNvPr>
          <p:cNvSpPr/>
          <p:nvPr/>
        </p:nvSpPr>
        <p:spPr>
          <a:xfrm>
            <a:off x="5101150" y="4064896"/>
            <a:ext cx="32739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</a:rPr>
              <a:t>☞ </a:t>
            </a:r>
            <a:r>
              <a:rPr lang="ko-KR" altLang="en-US" sz="1400" b="1" dirty="0" err="1">
                <a:latin typeface="스웨거 TTF" panose="020B0600000101010101" pitchFamily="50" charset="-127"/>
                <a:ea typeface="스웨거 TTF" panose="020B0600000101010101" pitchFamily="50" charset="-127"/>
              </a:rPr>
              <a:t>도서별</a:t>
            </a:r>
            <a:r>
              <a:rPr lang="ko-KR" altLang="en-US" sz="1400" b="1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대출빈도 분석 결과 </a:t>
            </a:r>
            <a:endParaRPr lang="en-US" altLang="ko-KR" sz="1400" b="1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r>
              <a:rPr lang="ko-KR" altLang="en-US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  인기 도서의 대출빈도가 전체도서 </a:t>
            </a:r>
            <a:endParaRPr lang="en-US" altLang="ko-KR" sz="1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  </a:t>
            </a:r>
            <a:r>
              <a:rPr lang="ko-KR" altLang="en-US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대출빈도의 대부분을 차지함</a:t>
            </a:r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F9C5F0-6796-43B4-9296-75C479FF0A62}"/>
              </a:ext>
            </a:extLst>
          </p:cNvPr>
          <p:cNvSpPr/>
          <p:nvPr/>
        </p:nvSpPr>
        <p:spPr>
          <a:xfrm>
            <a:off x="8730013" y="4060433"/>
            <a:ext cx="32739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</a:rPr>
              <a:t>☞ </a:t>
            </a:r>
            <a:r>
              <a:rPr lang="ko-KR" altLang="en-US" sz="1400" b="1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일별 </a:t>
            </a:r>
            <a:r>
              <a:rPr lang="ko-KR" altLang="en-US" sz="1400" b="1" dirty="0" err="1">
                <a:latin typeface="스웨거 TTF" panose="020B0600000101010101" pitchFamily="50" charset="-127"/>
                <a:ea typeface="스웨거 TTF" panose="020B0600000101010101" pitchFamily="50" charset="-127"/>
              </a:rPr>
              <a:t>대출권수</a:t>
            </a:r>
            <a:r>
              <a:rPr lang="ko-KR" altLang="en-US" sz="1400" b="1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분석 결과 </a:t>
            </a:r>
            <a:endParaRPr lang="en-US" altLang="ko-KR" sz="1400" b="1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r>
              <a:rPr lang="ko-KR" altLang="en-US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  학기 초반에 대부분의 대출이</a:t>
            </a:r>
            <a:endParaRPr lang="en-US" altLang="ko-KR" sz="1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이루어 진다</a:t>
            </a:r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5F79F5-BB4C-4F84-A9FF-DE3B5E57FC93}"/>
              </a:ext>
            </a:extLst>
          </p:cNvPr>
          <p:cNvSpPr/>
          <p:nvPr/>
        </p:nvSpPr>
        <p:spPr>
          <a:xfrm>
            <a:off x="1290923" y="5123346"/>
            <a:ext cx="71530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400" dirty="0">
                <a:solidFill>
                  <a:srgbClr val="141414"/>
                </a:solidFill>
                <a:latin typeface="se-nanummyeongjo"/>
              </a:rPr>
              <a:t>▷ </a:t>
            </a:r>
            <a:r>
              <a:rPr lang="en-US" altLang="ko-KR" sz="2400" dirty="0">
                <a:solidFill>
                  <a:srgbClr val="FF0000"/>
                </a:solidFill>
                <a:latin typeface="se-nanummyeongjo"/>
              </a:rPr>
              <a:t>’</a:t>
            </a:r>
            <a:r>
              <a:rPr lang="ko-KR" altLang="en-US" sz="2400" b="1" dirty="0">
                <a:solidFill>
                  <a:srgbClr val="FF0000"/>
                </a:solidFill>
                <a:latin typeface="inherit"/>
              </a:rPr>
              <a:t>추천시스템 </a:t>
            </a:r>
            <a:r>
              <a:rPr lang="en-US" altLang="ko-KR" sz="2400" b="1" dirty="0">
                <a:solidFill>
                  <a:srgbClr val="FF0000"/>
                </a:solidFill>
                <a:latin typeface="inherit"/>
              </a:rPr>
              <a:t>recommend system</a:t>
            </a:r>
            <a:r>
              <a:rPr lang="en-US" altLang="ko-KR" sz="2400" dirty="0">
                <a:solidFill>
                  <a:srgbClr val="FF0000"/>
                </a:solidFill>
                <a:latin typeface="se-nanummyeongjo"/>
              </a:rPr>
              <a:t>’</a:t>
            </a:r>
            <a:r>
              <a:rPr lang="en-US" altLang="ko-KR" sz="2400" dirty="0">
                <a:solidFill>
                  <a:srgbClr val="141414"/>
                </a:solidFill>
                <a:latin typeface="se-nanummyeongjo"/>
              </a:rPr>
              <a:t> </a:t>
            </a:r>
            <a:r>
              <a:rPr lang="ko-KR" altLang="en-US" sz="2400" dirty="0" err="1">
                <a:solidFill>
                  <a:srgbClr val="141414"/>
                </a:solidFill>
                <a:latin typeface="se-nanummyeongjo"/>
              </a:rPr>
              <a:t>도입시</a:t>
            </a:r>
            <a:r>
              <a:rPr lang="ko-KR" altLang="en-US" sz="2400" dirty="0">
                <a:solidFill>
                  <a:srgbClr val="141414"/>
                </a:solidFill>
                <a:latin typeface="se-nanummyeongjo"/>
              </a:rPr>
              <a:t> 기대효과</a:t>
            </a:r>
            <a:endParaRPr lang="en-US" altLang="ko-KR" sz="2400" dirty="0">
              <a:solidFill>
                <a:srgbClr val="141414"/>
              </a:solidFill>
              <a:latin typeface="se-nanummyeongjo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26B6AF8-ED6C-457D-A174-2C0C9775D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150" y="1991168"/>
            <a:ext cx="3273956" cy="196664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FB5643F-450E-4482-A431-DE0BD6DF4F3B}"/>
              </a:ext>
            </a:extLst>
          </p:cNvPr>
          <p:cNvSpPr txBox="1"/>
          <p:nvPr/>
        </p:nvSpPr>
        <p:spPr>
          <a:xfrm>
            <a:off x="1019213" y="1509876"/>
            <a:ext cx="6070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●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대학교 도서관 대출내역 분석 결과</a:t>
            </a:r>
            <a:endParaRPr lang="en-US" altLang="ko-KR" sz="20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00ED699-8162-4A41-8439-3331236AEC1D}"/>
              </a:ext>
            </a:extLst>
          </p:cNvPr>
          <p:cNvSpPr/>
          <p:nvPr/>
        </p:nvSpPr>
        <p:spPr>
          <a:xfrm>
            <a:off x="1525375" y="5624049"/>
            <a:ext cx="65256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○ 인기도서 위주로 대출이 몰리지 않고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장서대출을 활성화</a:t>
            </a:r>
            <a:endParaRPr lang="en-US" altLang="ko-KR" b="1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D65300-C4F2-4B13-803F-661BBCCE9D41}"/>
              </a:ext>
            </a:extLst>
          </p:cNvPr>
          <p:cNvSpPr/>
          <p:nvPr/>
        </p:nvSpPr>
        <p:spPr>
          <a:xfrm>
            <a:off x="1525375" y="5993933"/>
            <a:ext cx="10394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○ 사용자의 기호와 취향을 파악하여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비인기 도서에 대한 대출을 촉진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하고 이로써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대출양을 증진   </a:t>
            </a:r>
            <a:endParaRPr lang="en-US" altLang="ko-KR" b="1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854A5AB-F25E-4759-B8D5-DA464AD74CF7}"/>
              </a:ext>
            </a:extLst>
          </p:cNvPr>
          <p:cNvSpPr/>
          <p:nvPr/>
        </p:nvSpPr>
        <p:spPr>
          <a:xfrm>
            <a:off x="1472288" y="2031269"/>
            <a:ext cx="3273957" cy="1926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0001D6-5AB3-4368-A3F0-D4624439B27E}"/>
              </a:ext>
            </a:extLst>
          </p:cNvPr>
          <p:cNvSpPr/>
          <p:nvPr/>
        </p:nvSpPr>
        <p:spPr>
          <a:xfrm>
            <a:off x="1472289" y="2531501"/>
            <a:ext cx="24988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</a:rPr>
              <a:t>- </a:t>
            </a:r>
            <a:r>
              <a:rPr lang="ko-KR" altLang="en-US" sz="1400" dirty="0">
                <a:latin typeface="맑은 고딕" panose="020B0503020000020004" pitchFamily="50" charset="-127"/>
              </a:rPr>
              <a:t>총 대출 건 수 </a:t>
            </a:r>
            <a:r>
              <a:rPr lang="en-US" altLang="ko-KR" sz="1400" dirty="0">
                <a:latin typeface="맑은 고딕" panose="020B0503020000020004" pitchFamily="50" charset="-127"/>
              </a:rPr>
              <a:t>: 565677</a:t>
            </a:r>
            <a:r>
              <a:rPr lang="ko-KR" altLang="en-US" sz="1400" dirty="0">
                <a:latin typeface="맑은 고딕" panose="020B0503020000020004" pitchFamily="50" charset="-127"/>
              </a:rPr>
              <a:t>건</a:t>
            </a:r>
            <a:endParaRPr lang="en-US" altLang="ko-KR" sz="1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EBDE06C-9AE9-4B39-A5C6-32ABBE9F65F8}"/>
              </a:ext>
            </a:extLst>
          </p:cNvPr>
          <p:cNvSpPr/>
          <p:nvPr/>
        </p:nvSpPr>
        <p:spPr>
          <a:xfrm>
            <a:off x="1472289" y="2876903"/>
            <a:ext cx="24988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</a:rPr>
              <a:t>- </a:t>
            </a:r>
            <a:r>
              <a:rPr lang="ko-KR" altLang="en-US" sz="1400" dirty="0">
                <a:latin typeface="맑은 고딕" panose="020B0503020000020004" pitchFamily="50" charset="-127"/>
              </a:rPr>
              <a:t>총 대출자 수 </a:t>
            </a:r>
            <a:r>
              <a:rPr lang="en-US" altLang="ko-KR" sz="1400" dirty="0">
                <a:latin typeface="맑은 고딕" panose="020B0503020000020004" pitchFamily="50" charset="-127"/>
              </a:rPr>
              <a:t>: 30876</a:t>
            </a:r>
            <a:r>
              <a:rPr lang="ko-KR" altLang="en-US" sz="1400" dirty="0">
                <a:latin typeface="맑은 고딕" panose="020B0503020000020004" pitchFamily="50" charset="-127"/>
              </a:rPr>
              <a:t>명</a:t>
            </a:r>
            <a:endParaRPr lang="en-US" altLang="ko-KR" sz="1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84B6F8A-828A-4EC3-AD06-A6592ACE6121}"/>
              </a:ext>
            </a:extLst>
          </p:cNvPr>
          <p:cNvSpPr/>
          <p:nvPr/>
        </p:nvSpPr>
        <p:spPr>
          <a:xfrm>
            <a:off x="1472289" y="3202761"/>
            <a:ext cx="32739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</a:rPr>
              <a:t>- 1</a:t>
            </a:r>
            <a:r>
              <a:rPr lang="ko-KR" altLang="en-US" sz="1400" dirty="0">
                <a:latin typeface="맑은 고딕" panose="020B0503020000020004" pitchFamily="50" charset="-127"/>
              </a:rPr>
              <a:t>회 이상 대출된 도서 수 </a:t>
            </a:r>
            <a:r>
              <a:rPr lang="en-US" altLang="ko-KR" sz="1400" dirty="0">
                <a:latin typeface="맑은 고딕" panose="020B0503020000020004" pitchFamily="50" charset="-127"/>
              </a:rPr>
              <a:t>: 107687</a:t>
            </a:r>
            <a:r>
              <a:rPr lang="ko-KR" altLang="en-US" sz="1400" dirty="0">
                <a:latin typeface="맑은 고딕" panose="020B0503020000020004" pitchFamily="50" charset="-127"/>
              </a:rPr>
              <a:t>권</a:t>
            </a:r>
            <a:endParaRPr lang="en-US" altLang="ko-KR" sz="1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380CB48-3767-405C-9C69-9397C106D929}"/>
              </a:ext>
            </a:extLst>
          </p:cNvPr>
          <p:cNvSpPr/>
          <p:nvPr/>
        </p:nvSpPr>
        <p:spPr>
          <a:xfrm>
            <a:off x="1472289" y="3516040"/>
            <a:ext cx="32739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</a:rPr>
              <a:t>- </a:t>
            </a:r>
            <a:r>
              <a:rPr lang="ko-KR" altLang="en-US" sz="1400" dirty="0">
                <a:latin typeface="맑은 고딕" panose="020B0503020000020004" pitchFamily="50" charset="-127"/>
              </a:rPr>
              <a:t>도서관 총 소장 도서 수 </a:t>
            </a:r>
            <a:r>
              <a:rPr lang="en-US" altLang="ko-KR" sz="1400" dirty="0">
                <a:latin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</a:rPr>
              <a:t>약 </a:t>
            </a:r>
            <a:r>
              <a:rPr lang="en-US" altLang="ko-KR" sz="1400" dirty="0">
                <a:latin typeface="맑은 고딕" panose="020B0503020000020004" pitchFamily="50" charset="-127"/>
              </a:rPr>
              <a:t>100</a:t>
            </a:r>
            <a:r>
              <a:rPr lang="ko-KR" altLang="en-US" sz="1400" dirty="0">
                <a:latin typeface="맑은 고딕" panose="020B0503020000020004" pitchFamily="50" charset="-127"/>
              </a:rPr>
              <a:t>만권</a:t>
            </a:r>
            <a:endParaRPr lang="en-US" altLang="ko-KR" sz="1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A00005-CF72-4B4C-9D5E-5438316A92D9}"/>
              </a:ext>
            </a:extLst>
          </p:cNvPr>
          <p:cNvSpPr/>
          <p:nvPr/>
        </p:nvSpPr>
        <p:spPr>
          <a:xfrm>
            <a:off x="1472289" y="2182619"/>
            <a:ext cx="27882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</a:rPr>
              <a:t>- </a:t>
            </a:r>
            <a:r>
              <a:rPr lang="ko-KR" altLang="en-US" sz="1400" dirty="0">
                <a:latin typeface="맑은 고딕" panose="020B0503020000020004" pitchFamily="50" charset="-127"/>
              </a:rPr>
              <a:t>데이터 수집 기간 </a:t>
            </a:r>
            <a:r>
              <a:rPr lang="en-US" altLang="ko-KR" sz="1400" dirty="0">
                <a:latin typeface="맑은 고딕" panose="020B0503020000020004" pitchFamily="50" charset="-127"/>
              </a:rPr>
              <a:t>: 4</a:t>
            </a:r>
            <a:r>
              <a:rPr lang="ko-KR" altLang="en-US" sz="1400" dirty="0">
                <a:latin typeface="맑은 고딕" panose="020B0503020000020004" pitchFamily="50" charset="-127"/>
              </a:rPr>
              <a:t>년 </a:t>
            </a:r>
            <a:r>
              <a:rPr lang="en-US" altLang="ko-KR" sz="1400" dirty="0">
                <a:latin typeface="맑은 고딕" panose="020B0503020000020004" pitchFamily="50" charset="-127"/>
              </a:rPr>
              <a:t>6</a:t>
            </a:r>
            <a:r>
              <a:rPr lang="ko-KR" altLang="en-US" sz="1400" dirty="0">
                <a:latin typeface="맑은 고딕" panose="020B0503020000020004" pitchFamily="50" charset="-127"/>
              </a:rPr>
              <a:t>개월</a:t>
            </a:r>
            <a:endParaRPr lang="en-US" altLang="ko-KR" sz="1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6A8925-D33A-4F8C-9732-9502672E7E55}"/>
              </a:ext>
            </a:extLst>
          </p:cNvPr>
          <p:cNvSpPr/>
          <p:nvPr/>
        </p:nvSpPr>
        <p:spPr>
          <a:xfrm>
            <a:off x="1092974" y="2221331"/>
            <a:ext cx="2114821" cy="38331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줄무늬가 있는 오른쪽 화살표 25">
            <a:extLst>
              <a:ext uri="{FF2B5EF4-FFF2-40B4-BE49-F238E27FC236}">
                <a16:creationId xmlns:a16="http://schemas.microsoft.com/office/drawing/2014/main" id="{53E606CD-9707-42C5-8B6C-BA9C60D8F21D}"/>
              </a:ext>
            </a:extLst>
          </p:cNvPr>
          <p:cNvSpPr/>
          <p:nvPr/>
        </p:nvSpPr>
        <p:spPr>
          <a:xfrm>
            <a:off x="3277394" y="3639285"/>
            <a:ext cx="780504" cy="611910"/>
          </a:xfrm>
          <a:prstGeom prst="striped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66A5BF9-418A-4539-82FC-F62FEA60FFF8}"/>
              </a:ext>
            </a:extLst>
          </p:cNvPr>
          <p:cNvCxnSpPr>
            <a:cxnSpLocks/>
          </p:cNvCxnSpPr>
          <p:nvPr/>
        </p:nvCxnSpPr>
        <p:spPr>
          <a:xfrm>
            <a:off x="5444074" y="4380447"/>
            <a:ext cx="0" cy="1869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695DC2B-723B-48F6-8F51-F3AE2879A9EB}"/>
              </a:ext>
            </a:extLst>
          </p:cNvPr>
          <p:cNvGrpSpPr/>
          <p:nvPr/>
        </p:nvGrpSpPr>
        <p:grpSpPr>
          <a:xfrm>
            <a:off x="954989" y="3052368"/>
            <a:ext cx="2466086" cy="2154911"/>
            <a:chOff x="137442" y="1996970"/>
            <a:chExt cx="4024095" cy="2154911"/>
          </a:xfrm>
        </p:grpSpPr>
        <p:pic>
          <p:nvPicPr>
            <p:cNvPr id="21" name="Picture 2" descr="person illustration에 대한 이미지 검색결과">
              <a:extLst>
                <a:ext uri="{FF2B5EF4-FFF2-40B4-BE49-F238E27FC236}">
                  <a16:creationId xmlns:a16="http://schemas.microsoft.com/office/drawing/2014/main" id="{D1C1F6B5-D64E-4B86-B753-E35348D915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39" t="21954" r="38869" b="24712"/>
            <a:stretch/>
          </p:blipFill>
          <p:spPr bwMode="auto">
            <a:xfrm>
              <a:off x="2032452" y="1996970"/>
              <a:ext cx="312519" cy="369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 descr="person illustration에 대한 이미지 검색결과">
              <a:extLst>
                <a:ext uri="{FF2B5EF4-FFF2-40B4-BE49-F238E27FC236}">
                  <a16:creationId xmlns:a16="http://schemas.microsoft.com/office/drawing/2014/main" id="{887486B3-C605-4957-8447-3DF7211205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39" t="21954" r="38869" b="24712"/>
            <a:stretch/>
          </p:blipFill>
          <p:spPr bwMode="auto">
            <a:xfrm>
              <a:off x="2045337" y="2694795"/>
              <a:ext cx="312519" cy="369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person illustration에 대한 이미지 검색결과">
              <a:extLst>
                <a:ext uri="{FF2B5EF4-FFF2-40B4-BE49-F238E27FC236}">
                  <a16:creationId xmlns:a16="http://schemas.microsoft.com/office/drawing/2014/main" id="{8450162E-8AB5-40B3-BDEB-11DA264B60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39" t="21954" r="38869" b="24712"/>
            <a:stretch/>
          </p:blipFill>
          <p:spPr bwMode="auto">
            <a:xfrm>
              <a:off x="2045337" y="3511950"/>
              <a:ext cx="312519" cy="369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2C87D65-41EE-4CB5-BD88-159293B0C2FF}"/>
                </a:ext>
              </a:extLst>
            </p:cNvPr>
            <p:cNvSpPr txBox="1"/>
            <p:nvPr/>
          </p:nvSpPr>
          <p:spPr>
            <a:xfrm>
              <a:off x="231847" y="2415822"/>
              <a:ext cx="37954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김</a:t>
              </a:r>
              <a:r>
                <a:rPr lang="en-US" altLang="ko-KR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** / </a:t>
              </a:r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학부생 </a:t>
              </a:r>
              <a:r>
                <a:rPr lang="en-US" altLang="ko-KR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 </a:t>
              </a:r>
              <a:r>
                <a:rPr lang="ko-KR" altLang="en-US" sz="900" b="1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컴공과</a:t>
              </a:r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</a:t>
              </a:r>
              <a:r>
                <a:rPr lang="en-US" altLang="ko-KR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 21</a:t>
              </a:r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세</a:t>
              </a:r>
              <a:endParaRPr lang="en-US" altLang="ko-KR" sz="9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DA636D8-B76F-42B6-B67A-C129F6926CA9}"/>
                </a:ext>
              </a:extLst>
            </p:cNvPr>
            <p:cNvSpPr txBox="1"/>
            <p:nvPr/>
          </p:nvSpPr>
          <p:spPr>
            <a:xfrm>
              <a:off x="137442" y="3103894"/>
              <a:ext cx="40240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이</a:t>
              </a:r>
              <a:r>
                <a:rPr lang="en-US" altLang="ko-KR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** / </a:t>
              </a:r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대학원생 </a:t>
              </a:r>
              <a:r>
                <a:rPr lang="en-US" altLang="ko-KR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 </a:t>
              </a:r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수학과 </a:t>
              </a:r>
              <a:r>
                <a:rPr lang="en-US" altLang="ko-KR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 26</a:t>
              </a:r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세</a:t>
              </a:r>
              <a:endParaRPr lang="en-US" altLang="ko-KR" sz="9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E57483-5F98-4A8B-8787-581FB2ABE3C9}"/>
                </a:ext>
              </a:extLst>
            </p:cNvPr>
            <p:cNvSpPr txBox="1"/>
            <p:nvPr/>
          </p:nvSpPr>
          <p:spPr>
            <a:xfrm>
              <a:off x="137442" y="3921049"/>
              <a:ext cx="40240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박</a:t>
              </a:r>
              <a:r>
                <a:rPr lang="en-US" altLang="ko-KR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** / </a:t>
              </a:r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교수 </a:t>
              </a:r>
              <a:r>
                <a:rPr lang="en-US" altLang="ko-KR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 </a:t>
              </a:r>
              <a:r>
                <a:rPr lang="ko-KR" altLang="en-US" sz="900" b="1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산공과</a:t>
              </a:r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</a:t>
              </a:r>
              <a:r>
                <a:rPr lang="en-US" altLang="ko-KR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 45</a:t>
              </a:r>
              <a:r>
                <a:rPr lang="ko-KR" altLang="en-US" sz="9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세</a:t>
              </a:r>
              <a:endParaRPr lang="en-US" altLang="ko-KR" sz="9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82104B2-2538-49CF-80EF-97DFBC61DCBC}"/>
              </a:ext>
            </a:extLst>
          </p:cNvPr>
          <p:cNvSpPr txBox="1"/>
          <p:nvPr/>
        </p:nvSpPr>
        <p:spPr>
          <a:xfrm>
            <a:off x="3202918" y="3660883"/>
            <a:ext cx="93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도서</a:t>
            </a:r>
            <a:endParaRPr lang="en-US" altLang="ko-KR" dirty="0">
              <a:solidFill>
                <a:srgbClr val="C00000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대여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02B940D-C8B0-4B03-B0C6-5B8A58EB2C3A}"/>
              </a:ext>
            </a:extLst>
          </p:cNvPr>
          <p:cNvGrpSpPr/>
          <p:nvPr/>
        </p:nvGrpSpPr>
        <p:grpSpPr>
          <a:xfrm>
            <a:off x="1588290" y="2388326"/>
            <a:ext cx="1150650" cy="361163"/>
            <a:chOff x="5823273" y="-1005592"/>
            <a:chExt cx="1800000" cy="540000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5B4DECA-A252-495A-9DEC-D442ACE7AF75}"/>
                </a:ext>
              </a:extLst>
            </p:cNvPr>
            <p:cNvSpPr/>
            <p:nvPr/>
          </p:nvSpPr>
          <p:spPr>
            <a:xfrm>
              <a:off x="5823273" y="-1005592"/>
              <a:ext cx="1800000" cy="54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0">
                <a:solidFill>
                  <a:schemeClr val="bg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D59BD3F-3845-49D3-82F2-D1F676FA55CA}"/>
                </a:ext>
              </a:extLst>
            </p:cNvPr>
            <p:cNvSpPr/>
            <p:nvPr/>
          </p:nvSpPr>
          <p:spPr>
            <a:xfrm>
              <a:off x="6290408" y="-978088"/>
              <a:ext cx="893219" cy="5061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ea typeface="스웨거 TTF" panose="020B0600000101010101" pitchFamily="50" charset="-127"/>
                </a:rPr>
                <a:t>User</a:t>
              </a:r>
              <a:endParaRPr lang="ko-KR" altLang="en-US" sz="3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EBDB1B-6993-4190-9F7D-58FCA38E06F3}"/>
              </a:ext>
            </a:extLst>
          </p:cNvPr>
          <p:cNvSpPr/>
          <p:nvPr/>
        </p:nvSpPr>
        <p:spPr>
          <a:xfrm>
            <a:off x="4130910" y="2221331"/>
            <a:ext cx="2114821" cy="38331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548E7B1-25FA-4416-BE3D-F153218C8D2F}"/>
              </a:ext>
            </a:extLst>
          </p:cNvPr>
          <p:cNvGrpSpPr/>
          <p:nvPr/>
        </p:nvGrpSpPr>
        <p:grpSpPr>
          <a:xfrm>
            <a:off x="4666866" y="2388327"/>
            <a:ext cx="1150650" cy="365914"/>
            <a:chOff x="5823273" y="-1005592"/>
            <a:chExt cx="1800000" cy="54710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B9A5A4D-D807-4F64-B65F-A0AC2C274F85}"/>
                </a:ext>
              </a:extLst>
            </p:cNvPr>
            <p:cNvSpPr/>
            <p:nvPr/>
          </p:nvSpPr>
          <p:spPr>
            <a:xfrm>
              <a:off x="5823273" y="-1005592"/>
              <a:ext cx="1800000" cy="54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0">
                <a:solidFill>
                  <a:schemeClr val="bg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262DE44-5983-4320-8007-1EBE134CE99F}"/>
                </a:ext>
              </a:extLst>
            </p:cNvPr>
            <p:cNvSpPr/>
            <p:nvPr/>
          </p:nvSpPr>
          <p:spPr>
            <a:xfrm>
              <a:off x="6305684" y="-964684"/>
              <a:ext cx="890713" cy="5061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ea typeface="스웨거 TTF" panose="020B0600000101010101" pitchFamily="50" charset="-127"/>
                </a:rPr>
                <a:t>Data</a:t>
              </a:r>
              <a:endParaRPr lang="ko-KR" altLang="en-US" sz="3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DB77FA1-E0F1-4682-9078-7C91B715101D}"/>
              </a:ext>
            </a:extLst>
          </p:cNvPr>
          <p:cNvSpPr txBox="1"/>
          <p:nvPr/>
        </p:nvSpPr>
        <p:spPr>
          <a:xfrm>
            <a:off x="4464914" y="3765370"/>
            <a:ext cx="1501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대학교 도서관</a:t>
            </a:r>
            <a:endParaRPr lang="en-US" altLang="ko-KR" sz="1200" b="1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1E39D4-43B5-43EE-B97B-B985CAB7EA1E}"/>
              </a:ext>
            </a:extLst>
          </p:cNvPr>
          <p:cNvSpPr txBox="1"/>
          <p:nvPr/>
        </p:nvSpPr>
        <p:spPr>
          <a:xfrm>
            <a:off x="4115529" y="5078649"/>
            <a:ext cx="2114821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Big Data</a:t>
            </a:r>
          </a:p>
          <a:p>
            <a:pPr algn="ctr"/>
            <a:endParaRPr lang="en-US" altLang="ko-KR" sz="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ctr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∙ </a:t>
            </a:r>
            <a:r>
              <a:rPr lang="ko-KR" altLang="en-US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사용자 별 도서 대여 기록</a:t>
            </a:r>
            <a:endParaRPr lang="en-US" altLang="ko-KR" sz="1200" b="1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ctr"/>
            <a:r>
              <a:rPr lang="ko-KR" altLang="en-US" sz="1200" b="1" dirty="0">
                <a:latin typeface="맑은 고딕" panose="020B0503020000020004" pitchFamily="50" charset="-127"/>
              </a:rPr>
              <a:t>∙ </a:t>
            </a:r>
            <a:r>
              <a:rPr lang="ko-KR" altLang="en-US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소장 도서 </a:t>
            </a:r>
            <a:r>
              <a:rPr lang="en-US" altLang="ko-KR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List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859C7E44-2149-46BA-8119-865B22A00B1D}"/>
              </a:ext>
            </a:extLst>
          </p:cNvPr>
          <p:cNvCxnSpPr>
            <a:cxnSpLocks/>
          </p:cNvCxnSpPr>
          <p:nvPr/>
        </p:nvCxnSpPr>
        <p:spPr>
          <a:xfrm>
            <a:off x="5203442" y="4048730"/>
            <a:ext cx="0" cy="25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DB0DA3B-9FE0-4E93-911B-BCABD33AAD27}"/>
              </a:ext>
            </a:extLst>
          </p:cNvPr>
          <p:cNvSpPr/>
          <p:nvPr/>
        </p:nvSpPr>
        <p:spPr>
          <a:xfrm>
            <a:off x="7024523" y="2202799"/>
            <a:ext cx="2114821" cy="38331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93BB7FA-E5BC-41A6-BD5B-6C4F081F0B8B}"/>
              </a:ext>
            </a:extLst>
          </p:cNvPr>
          <p:cNvGrpSpPr/>
          <p:nvPr/>
        </p:nvGrpSpPr>
        <p:grpSpPr>
          <a:xfrm>
            <a:off x="7519839" y="2369795"/>
            <a:ext cx="1150650" cy="365914"/>
            <a:chOff x="5823273" y="-1005592"/>
            <a:chExt cx="1800000" cy="54710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0FE1C371-6977-4ED8-BD08-E41EEE9891FC}"/>
                </a:ext>
              </a:extLst>
            </p:cNvPr>
            <p:cNvSpPr/>
            <p:nvPr/>
          </p:nvSpPr>
          <p:spPr>
            <a:xfrm>
              <a:off x="5823273" y="-1005592"/>
              <a:ext cx="1800000" cy="54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0">
                <a:solidFill>
                  <a:schemeClr val="bg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FDE0647-2E83-4641-BFB1-FC12DDCA43E9}"/>
                </a:ext>
              </a:extLst>
            </p:cNvPr>
            <p:cNvSpPr/>
            <p:nvPr/>
          </p:nvSpPr>
          <p:spPr>
            <a:xfrm>
              <a:off x="6200366" y="-964684"/>
              <a:ext cx="1101352" cy="5061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ea typeface="스웨거 TTF" panose="020B0600000101010101" pitchFamily="50" charset="-127"/>
                </a:rPr>
                <a:t>Model</a:t>
              </a:r>
              <a:endParaRPr lang="ko-KR" altLang="en-US" sz="3000" dirty="0">
                <a:solidFill>
                  <a:schemeClr val="bg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9023BE-BA11-493E-9BFE-A12FA1ABDC6F}"/>
              </a:ext>
            </a:extLst>
          </p:cNvPr>
          <p:cNvSpPr/>
          <p:nvPr/>
        </p:nvSpPr>
        <p:spPr>
          <a:xfrm>
            <a:off x="9883213" y="2193130"/>
            <a:ext cx="2114821" cy="38331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DD5B813-90B3-4F12-8637-C09604BD6CF4}"/>
              </a:ext>
            </a:extLst>
          </p:cNvPr>
          <p:cNvGrpSpPr/>
          <p:nvPr/>
        </p:nvGrpSpPr>
        <p:grpSpPr>
          <a:xfrm>
            <a:off x="9877496" y="2365044"/>
            <a:ext cx="2193323" cy="365914"/>
            <a:chOff x="5802025" y="-1005592"/>
            <a:chExt cx="1898045" cy="547104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744F7D8-A033-4A49-A464-98061B12BE91}"/>
                </a:ext>
              </a:extLst>
            </p:cNvPr>
            <p:cNvSpPr/>
            <p:nvPr/>
          </p:nvSpPr>
          <p:spPr>
            <a:xfrm>
              <a:off x="5823273" y="-1005592"/>
              <a:ext cx="1800000" cy="54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000">
                <a:solidFill>
                  <a:schemeClr val="bg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20828CA0-69D9-4ED9-9F91-D657F0C7FB0D}"/>
                </a:ext>
              </a:extLst>
            </p:cNvPr>
            <p:cNvSpPr/>
            <p:nvPr/>
          </p:nvSpPr>
          <p:spPr>
            <a:xfrm>
              <a:off x="5802025" y="-964684"/>
              <a:ext cx="1898045" cy="5061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550" dirty="0" err="1">
                  <a:solidFill>
                    <a:schemeClr val="bg1"/>
                  </a:solidFill>
                  <a:ea typeface="스웨거 TTF" panose="020B0600000101010101" pitchFamily="50" charset="-127"/>
                </a:rPr>
                <a:t>Prediction&amp;Recommend</a:t>
              </a:r>
              <a:endParaRPr lang="ko-KR" altLang="en-US" sz="1550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줄무늬가 있는 오른쪽 화살표 25">
            <a:extLst>
              <a:ext uri="{FF2B5EF4-FFF2-40B4-BE49-F238E27FC236}">
                <a16:creationId xmlns:a16="http://schemas.microsoft.com/office/drawing/2014/main" id="{540D499E-BDF9-4C5E-9278-46CEEC29A9EC}"/>
              </a:ext>
            </a:extLst>
          </p:cNvPr>
          <p:cNvSpPr/>
          <p:nvPr/>
        </p:nvSpPr>
        <p:spPr>
          <a:xfrm>
            <a:off x="6303497" y="3639285"/>
            <a:ext cx="692163" cy="611910"/>
          </a:xfrm>
          <a:prstGeom prst="striped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4BFA087-DD7B-44BA-95D1-E980779FD043}"/>
              </a:ext>
            </a:extLst>
          </p:cNvPr>
          <p:cNvGrpSpPr/>
          <p:nvPr/>
        </p:nvGrpSpPr>
        <p:grpSpPr>
          <a:xfrm>
            <a:off x="7610537" y="2870277"/>
            <a:ext cx="1025392" cy="931669"/>
            <a:chOff x="6891788" y="2328355"/>
            <a:chExt cx="1025392" cy="931669"/>
          </a:xfrm>
        </p:grpSpPr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24B54ADF-43BD-47B9-92C2-E10FCF1DAA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36" r="8748" b="15695"/>
            <a:stretch/>
          </p:blipFill>
          <p:spPr>
            <a:xfrm>
              <a:off x="6946800" y="2328355"/>
              <a:ext cx="914114" cy="931669"/>
            </a:xfrm>
            <a:prstGeom prst="rect">
              <a:avLst/>
            </a:prstGeom>
          </p:spPr>
        </p:pic>
        <p:sp>
          <p:nvSpPr>
            <p:cNvPr id="64" name="양쪽 대괄호 63">
              <a:extLst>
                <a:ext uri="{FF2B5EF4-FFF2-40B4-BE49-F238E27FC236}">
                  <a16:creationId xmlns:a16="http://schemas.microsoft.com/office/drawing/2014/main" id="{A89774C5-E3AF-45C5-9682-E199742A428A}"/>
                </a:ext>
              </a:extLst>
            </p:cNvPr>
            <p:cNvSpPr/>
            <p:nvPr/>
          </p:nvSpPr>
          <p:spPr>
            <a:xfrm>
              <a:off x="6891788" y="2328355"/>
              <a:ext cx="1025392" cy="931669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7BB0BE2-C745-44A0-B9E4-98BC52628637}"/>
              </a:ext>
            </a:extLst>
          </p:cNvPr>
          <p:cNvCxnSpPr>
            <a:cxnSpLocks/>
          </p:cNvCxnSpPr>
          <p:nvPr/>
        </p:nvCxnSpPr>
        <p:spPr>
          <a:xfrm>
            <a:off x="8063990" y="4170650"/>
            <a:ext cx="0" cy="25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06B43D7-FFE1-4A2D-91BB-6849430E0331}"/>
              </a:ext>
            </a:extLst>
          </p:cNvPr>
          <p:cNvSpPr txBox="1"/>
          <p:nvPr/>
        </p:nvSpPr>
        <p:spPr>
          <a:xfrm>
            <a:off x="7331213" y="3842856"/>
            <a:ext cx="1501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유틸리티 행렬</a:t>
            </a:r>
            <a:endParaRPr lang="en-US" altLang="ko-KR" sz="1200" b="1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90C3022A-CA57-4D66-9B17-C290377AA1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81"/>
          <a:stretch/>
        </p:blipFill>
        <p:spPr>
          <a:xfrm>
            <a:off x="4789570" y="2937126"/>
            <a:ext cx="878779" cy="755916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31E448E5-49F1-428A-81EC-72090C35345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" b="15106"/>
          <a:stretch/>
        </p:blipFill>
        <p:spPr>
          <a:xfrm>
            <a:off x="4792060" y="4361330"/>
            <a:ext cx="806462" cy="691757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5F0719EE-18B4-4805-9F79-F36483676F1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18"/>
          <a:stretch/>
        </p:blipFill>
        <p:spPr>
          <a:xfrm>
            <a:off x="7564179" y="4449216"/>
            <a:ext cx="1061970" cy="907788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3A8D9E60-01A9-4CAC-86E3-BA3ACB840B3B}"/>
              </a:ext>
            </a:extLst>
          </p:cNvPr>
          <p:cNvSpPr txBox="1"/>
          <p:nvPr/>
        </p:nvSpPr>
        <p:spPr>
          <a:xfrm>
            <a:off x="7331213" y="5393151"/>
            <a:ext cx="1501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잠재요인</a:t>
            </a:r>
            <a:endParaRPr lang="en-US" altLang="ko-KR" sz="1200" b="1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ctr"/>
            <a:r>
              <a:rPr lang="ko-KR" altLang="en-US" sz="1200" b="1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협업필터링</a:t>
            </a:r>
            <a:endParaRPr lang="en-US" altLang="ko-KR" sz="1200" b="1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ctr"/>
            <a:r>
              <a:rPr lang="en-US" altLang="ko-KR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(BPR-MF)</a:t>
            </a: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1BB609E5-9106-4D01-B038-0C3B5F04158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11111" r="15829" b="26963"/>
          <a:stretch/>
        </p:blipFill>
        <p:spPr>
          <a:xfrm>
            <a:off x="10144586" y="2927420"/>
            <a:ext cx="479501" cy="436311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BC0B39F0-6109-4265-8111-5495D9072D4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0" b="23176"/>
          <a:stretch/>
        </p:blipFill>
        <p:spPr>
          <a:xfrm>
            <a:off x="10746007" y="2829637"/>
            <a:ext cx="987709" cy="663678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944B4AEB-DA85-428E-BBCF-5FC24A37B61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11111" r="15829" b="26963"/>
          <a:stretch/>
        </p:blipFill>
        <p:spPr>
          <a:xfrm>
            <a:off x="10144586" y="3577811"/>
            <a:ext cx="479501" cy="436311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BC05F7F2-F7BB-4479-B371-4CDF5790810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0" b="23176"/>
          <a:stretch/>
        </p:blipFill>
        <p:spPr>
          <a:xfrm>
            <a:off x="10746007" y="3480028"/>
            <a:ext cx="987709" cy="663678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A1F82D09-CF47-4889-901B-A9A4C46EA2A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11111" r="15829" b="26963"/>
          <a:stretch/>
        </p:blipFill>
        <p:spPr>
          <a:xfrm>
            <a:off x="10144586" y="4248027"/>
            <a:ext cx="479501" cy="436311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2F1F7C09-0CF4-4B76-B804-27801729F89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0" b="23176"/>
          <a:stretch/>
        </p:blipFill>
        <p:spPr>
          <a:xfrm>
            <a:off x="10746007" y="4150244"/>
            <a:ext cx="987709" cy="663678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22EC8783-2A44-40F2-BC41-78CCB56E41AE}"/>
              </a:ext>
            </a:extLst>
          </p:cNvPr>
          <p:cNvSpPr txBox="1"/>
          <p:nvPr/>
        </p:nvSpPr>
        <p:spPr>
          <a:xfrm>
            <a:off x="10139862" y="5443952"/>
            <a:ext cx="1697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대여하지 않은 책 중</a:t>
            </a:r>
            <a:endParaRPr lang="en-US" altLang="ko-KR" sz="1200" b="1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ctr"/>
            <a:r>
              <a:rPr lang="ko-KR" altLang="en-US" sz="1200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선호할 만한 책 추천 </a:t>
            </a:r>
            <a:endParaRPr lang="en-US" altLang="ko-KR" sz="1200" b="1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E91BEC6-2C76-432E-99AD-113A08768137}"/>
              </a:ext>
            </a:extLst>
          </p:cNvPr>
          <p:cNvSpPr txBox="1"/>
          <p:nvPr/>
        </p:nvSpPr>
        <p:spPr>
          <a:xfrm>
            <a:off x="10566957" y="4521431"/>
            <a:ext cx="300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.</a:t>
            </a:r>
          </a:p>
          <a:p>
            <a:r>
              <a:rPr lang="en-US" altLang="ko-KR" dirty="0"/>
              <a:t>.</a:t>
            </a:r>
          </a:p>
          <a:p>
            <a:r>
              <a:rPr lang="en-US" altLang="ko-KR" dirty="0"/>
              <a:t>.</a:t>
            </a:r>
          </a:p>
        </p:txBody>
      </p:sp>
      <p:sp>
        <p:nvSpPr>
          <p:cNvPr id="51" name="제목 1">
            <a:extLst>
              <a:ext uri="{FF2B5EF4-FFF2-40B4-BE49-F238E27FC236}">
                <a16:creationId xmlns:a16="http://schemas.microsoft.com/office/drawing/2014/main" id="{2893B449-BC00-441C-B919-4E6CEA9E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458" y="596717"/>
            <a:ext cx="8691881" cy="609600"/>
          </a:xfrm>
          <a:solidFill>
            <a:schemeClr val="bg1">
              <a:alpha val="0"/>
            </a:schemeClr>
          </a:solidFill>
        </p:spPr>
        <p:txBody>
          <a:bodyPr>
            <a:noAutofit/>
          </a:bodyPr>
          <a:lstStyle/>
          <a:p>
            <a:r>
              <a:rPr lang="ko-KR" altLang="en-US" sz="3600" dirty="0"/>
              <a:t>대학교 도서관 도서 추천 시스템 서비스</a:t>
            </a:r>
          </a:p>
        </p:txBody>
      </p:sp>
      <p:sp>
        <p:nvSpPr>
          <p:cNvPr id="61" name="줄무늬가 있는 오른쪽 화살표 25">
            <a:extLst>
              <a:ext uri="{FF2B5EF4-FFF2-40B4-BE49-F238E27FC236}">
                <a16:creationId xmlns:a16="http://schemas.microsoft.com/office/drawing/2014/main" id="{2AE34989-0DA7-4121-97E7-2EAEA4553B41}"/>
              </a:ext>
            </a:extLst>
          </p:cNvPr>
          <p:cNvSpPr/>
          <p:nvPr/>
        </p:nvSpPr>
        <p:spPr>
          <a:xfrm>
            <a:off x="9189791" y="3639285"/>
            <a:ext cx="692163" cy="611910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7CA616-8A56-4E1E-ACE9-6561FB8E7AB5}"/>
              </a:ext>
            </a:extLst>
          </p:cNvPr>
          <p:cNvSpPr txBox="1"/>
          <p:nvPr/>
        </p:nvSpPr>
        <p:spPr>
          <a:xfrm>
            <a:off x="1019213" y="1545094"/>
            <a:ext cx="3491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●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과정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213208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273180-375A-45C2-B4E9-B7B18FF66ACB}"/>
              </a:ext>
            </a:extLst>
          </p:cNvPr>
          <p:cNvSpPr txBox="1"/>
          <p:nvPr/>
        </p:nvSpPr>
        <p:spPr>
          <a:xfrm>
            <a:off x="1217608" y="1406418"/>
            <a:ext cx="10263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 </a:t>
            </a:r>
            <a:r>
              <a:rPr lang="ko-KR" altLang="en-US" sz="2000" dirty="0"/>
              <a:t>협업</a:t>
            </a:r>
            <a:r>
              <a:rPr lang="ko-KR" altLang="en-US" dirty="0"/>
              <a:t> </a:t>
            </a:r>
            <a:r>
              <a:rPr lang="ko-KR" altLang="en-US" sz="2000" dirty="0"/>
              <a:t>필터링</a:t>
            </a:r>
            <a:r>
              <a:rPr lang="ko-KR" altLang="en-US" dirty="0"/>
              <a:t> </a:t>
            </a:r>
            <a:r>
              <a:rPr lang="en-US" altLang="ko-KR" dirty="0"/>
              <a:t>( Collaborative Filtering, CF)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10A0D65-80CA-475F-8BDC-749C62B851D3}"/>
              </a:ext>
            </a:extLst>
          </p:cNvPr>
          <p:cNvSpPr/>
          <p:nvPr/>
        </p:nvSpPr>
        <p:spPr>
          <a:xfrm>
            <a:off x="2281202" y="4015415"/>
            <a:ext cx="1024373" cy="552481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사용자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7382009-EFFB-40F0-AF34-E920DEA60998}"/>
              </a:ext>
            </a:extLst>
          </p:cNvPr>
          <p:cNvSpPr/>
          <p:nvPr/>
        </p:nvSpPr>
        <p:spPr>
          <a:xfrm>
            <a:off x="2281202" y="5007601"/>
            <a:ext cx="1024373" cy="552481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사용자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707B52-E02D-4E5C-963F-7B9F3B31EE81}"/>
              </a:ext>
            </a:extLst>
          </p:cNvPr>
          <p:cNvSpPr/>
          <p:nvPr/>
        </p:nvSpPr>
        <p:spPr>
          <a:xfrm>
            <a:off x="4280683" y="3902875"/>
            <a:ext cx="905320" cy="373941"/>
          </a:xfrm>
          <a:prstGeom prst="rect">
            <a:avLst/>
          </a:prstGeom>
          <a:solidFill>
            <a:srgbClr val="8D8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도서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4F1B8C-2A4D-4B07-8541-E3B0A79A02D4}"/>
              </a:ext>
            </a:extLst>
          </p:cNvPr>
          <p:cNvSpPr/>
          <p:nvPr/>
        </p:nvSpPr>
        <p:spPr>
          <a:xfrm>
            <a:off x="4280683" y="4620286"/>
            <a:ext cx="905320" cy="373941"/>
          </a:xfrm>
          <a:prstGeom prst="rect">
            <a:avLst/>
          </a:prstGeom>
          <a:solidFill>
            <a:srgbClr val="8D8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도서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C73034F-2ECF-4A2E-826D-16A4F06282A6}"/>
              </a:ext>
            </a:extLst>
          </p:cNvPr>
          <p:cNvSpPr/>
          <p:nvPr/>
        </p:nvSpPr>
        <p:spPr>
          <a:xfrm>
            <a:off x="4280683" y="5343871"/>
            <a:ext cx="905320" cy="373941"/>
          </a:xfrm>
          <a:prstGeom prst="rect">
            <a:avLst/>
          </a:prstGeom>
          <a:solidFill>
            <a:srgbClr val="8D8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도서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C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3181FE2-7BFD-4BAA-A1DC-6EE58507BA8B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305574" y="4089846"/>
            <a:ext cx="975109" cy="163682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F9E4965-E1E4-4738-8A50-E89C6A12E32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305574" y="4253527"/>
            <a:ext cx="975109" cy="1277315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BDE01BC-1BC0-482E-B54C-0DAD9118859E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305574" y="5245713"/>
            <a:ext cx="975109" cy="285129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DD2949A-1EDE-4082-B8BA-FB950C261853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305574" y="4807257"/>
            <a:ext cx="975109" cy="438458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5CD3CF-D41E-4925-BB7C-194702CEDF9E}"/>
              </a:ext>
            </a:extLst>
          </p:cNvPr>
          <p:cNvSpPr/>
          <p:nvPr/>
        </p:nvSpPr>
        <p:spPr>
          <a:xfrm>
            <a:off x="2658869" y="5896214"/>
            <a:ext cx="23657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사용자 기반 </a:t>
            </a:r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E19C08E-C6B5-4B7D-962D-F1EC425E70FF}"/>
              </a:ext>
            </a:extLst>
          </p:cNvPr>
          <p:cNvSpPr/>
          <p:nvPr/>
        </p:nvSpPr>
        <p:spPr>
          <a:xfrm>
            <a:off x="8306572" y="3911919"/>
            <a:ext cx="765090" cy="69393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저자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E25C44B-2712-48C2-A33C-258C45D2488F}"/>
              </a:ext>
            </a:extLst>
          </p:cNvPr>
          <p:cNvSpPr/>
          <p:nvPr/>
        </p:nvSpPr>
        <p:spPr>
          <a:xfrm>
            <a:off x="8306572" y="4904105"/>
            <a:ext cx="765090" cy="69393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저자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FDD7F6D-0B7B-4231-9173-0CD238773ECC}"/>
              </a:ext>
            </a:extLst>
          </p:cNvPr>
          <p:cNvCxnSpPr>
            <a:cxnSpLocks/>
            <a:stCxn id="19" idx="6"/>
            <a:endCxn id="51" idx="1"/>
          </p:cNvCxnSpPr>
          <p:nvPr/>
        </p:nvCxnSpPr>
        <p:spPr>
          <a:xfrm flipV="1">
            <a:off x="9071662" y="4062952"/>
            <a:ext cx="860495" cy="195935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A961B93-730A-41B6-B0DF-998BFAA386DF}"/>
              </a:ext>
            </a:extLst>
          </p:cNvPr>
          <p:cNvCxnSpPr>
            <a:cxnSpLocks/>
            <a:stCxn id="19" idx="6"/>
            <a:endCxn id="53" idx="1"/>
          </p:cNvCxnSpPr>
          <p:nvPr/>
        </p:nvCxnSpPr>
        <p:spPr>
          <a:xfrm>
            <a:off x="9071662" y="4258887"/>
            <a:ext cx="860495" cy="1245061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18EF336-B426-4D47-A382-FD5393A633DB}"/>
              </a:ext>
            </a:extLst>
          </p:cNvPr>
          <p:cNvCxnSpPr>
            <a:cxnSpLocks/>
            <a:stCxn id="20" idx="6"/>
            <a:endCxn id="53" idx="1"/>
          </p:cNvCxnSpPr>
          <p:nvPr/>
        </p:nvCxnSpPr>
        <p:spPr>
          <a:xfrm>
            <a:off x="9071662" y="5251073"/>
            <a:ext cx="860495" cy="252875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4BBBD4F-96DC-43EE-8CA0-C3C8CA3C1187}"/>
              </a:ext>
            </a:extLst>
          </p:cNvPr>
          <p:cNvCxnSpPr>
            <a:cxnSpLocks/>
            <a:stCxn id="20" idx="6"/>
            <a:endCxn id="52" idx="1"/>
          </p:cNvCxnSpPr>
          <p:nvPr/>
        </p:nvCxnSpPr>
        <p:spPr>
          <a:xfrm flipV="1">
            <a:off x="9071662" y="4780363"/>
            <a:ext cx="860495" cy="470710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1F0241E-ABCF-4952-A0C9-75382026BCB3}"/>
              </a:ext>
            </a:extLst>
          </p:cNvPr>
          <p:cNvCxnSpPr>
            <a:cxnSpLocks/>
            <a:stCxn id="45" idx="6"/>
            <a:endCxn id="19" idx="2"/>
          </p:cNvCxnSpPr>
          <p:nvPr/>
        </p:nvCxnSpPr>
        <p:spPr>
          <a:xfrm flipV="1">
            <a:off x="7792874" y="4258887"/>
            <a:ext cx="513698" cy="5875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B9E824C-7DEC-423D-82CB-2A9FD8A6AA1F}"/>
              </a:ext>
            </a:extLst>
          </p:cNvPr>
          <p:cNvCxnSpPr>
            <a:cxnSpLocks/>
            <a:stCxn id="46" idx="6"/>
            <a:endCxn id="20" idx="2"/>
          </p:cNvCxnSpPr>
          <p:nvPr/>
        </p:nvCxnSpPr>
        <p:spPr>
          <a:xfrm flipV="1">
            <a:off x="7792874" y="5251073"/>
            <a:ext cx="513698" cy="5670"/>
          </a:xfrm>
          <a:prstGeom prst="straightConnector1">
            <a:avLst/>
          </a:prstGeom>
          <a:ln w="28575">
            <a:solidFill>
              <a:srgbClr val="BBC5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31F347-4070-4083-8E43-EA50DC0378E6}"/>
              </a:ext>
            </a:extLst>
          </p:cNvPr>
          <p:cNvSpPr/>
          <p:nvPr/>
        </p:nvSpPr>
        <p:spPr>
          <a:xfrm>
            <a:off x="7882522" y="5876618"/>
            <a:ext cx="18036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잠재요인</a:t>
            </a:r>
            <a:r>
              <a:rPr lang="ko-KR" altLang="en-US" sz="2000" dirty="0"/>
              <a:t> </a:t>
            </a:r>
            <a:r>
              <a:rPr lang="en-US" altLang="ko-KR" sz="2000" dirty="0"/>
              <a:t>Model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CA3C643-B63D-4BBA-8AB3-1F1838D8CA7D}"/>
              </a:ext>
            </a:extLst>
          </p:cNvPr>
          <p:cNvSpPr/>
          <p:nvPr/>
        </p:nvSpPr>
        <p:spPr>
          <a:xfrm>
            <a:off x="6768501" y="3988521"/>
            <a:ext cx="1024373" cy="552481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사용자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77A2EBE-CCEC-4B27-AE72-E23591FB41F3}"/>
              </a:ext>
            </a:extLst>
          </p:cNvPr>
          <p:cNvSpPr/>
          <p:nvPr/>
        </p:nvSpPr>
        <p:spPr>
          <a:xfrm>
            <a:off x="6768501" y="4980502"/>
            <a:ext cx="1024373" cy="552481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사용자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DAA98FA-9C83-4C7E-BB72-7FA441870848}"/>
              </a:ext>
            </a:extLst>
          </p:cNvPr>
          <p:cNvSpPr/>
          <p:nvPr/>
        </p:nvSpPr>
        <p:spPr>
          <a:xfrm>
            <a:off x="9932157" y="3875981"/>
            <a:ext cx="905320" cy="373941"/>
          </a:xfrm>
          <a:prstGeom prst="rect">
            <a:avLst/>
          </a:prstGeom>
          <a:solidFill>
            <a:srgbClr val="8D8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도서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821D7CC-3BF8-4C0D-8311-87C5AD0DB812}"/>
              </a:ext>
            </a:extLst>
          </p:cNvPr>
          <p:cNvSpPr/>
          <p:nvPr/>
        </p:nvSpPr>
        <p:spPr>
          <a:xfrm>
            <a:off x="9932157" y="4593392"/>
            <a:ext cx="905320" cy="373941"/>
          </a:xfrm>
          <a:prstGeom prst="rect">
            <a:avLst/>
          </a:prstGeom>
          <a:solidFill>
            <a:srgbClr val="8D8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도서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5DB0DF2-A79F-4503-B5F4-0F482B4349B5}"/>
              </a:ext>
            </a:extLst>
          </p:cNvPr>
          <p:cNvSpPr/>
          <p:nvPr/>
        </p:nvSpPr>
        <p:spPr>
          <a:xfrm>
            <a:off x="9932157" y="5316977"/>
            <a:ext cx="905320" cy="373941"/>
          </a:xfrm>
          <a:prstGeom prst="rect">
            <a:avLst/>
          </a:prstGeom>
          <a:solidFill>
            <a:srgbClr val="8D8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도서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C</a:t>
            </a:r>
            <a:endParaRPr lang="ko-KR" altLang="en-US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016E24-7D3A-4B88-BBF5-F4B2E152B56F}"/>
              </a:ext>
            </a:extLst>
          </p:cNvPr>
          <p:cNvSpPr txBox="1"/>
          <p:nvPr/>
        </p:nvSpPr>
        <p:spPr>
          <a:xfrm>
            <a:off x="1391820" y="1837496"/>
            <a:ext cx="9445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    Data : </a:t>
            </a:r>
            <a:r>
              <a:rPr lang="ko-KR" altLang="en-US" dirty="0"/>
              <a:t>아이템에 대한 사용자의 </a:t>
            </a:r>
            <a:r>
              <a:rPr lang="en-US" altLang="ko-KR" dirty="0" err="1"/>
              <a:t>FeedBack</a:t>
            </a:r>
            <a:r>
              <a:rPr lang="en-US" altLang="ko-KR" dirty="0"/>
              <a:t> (</a:t>
            </a:r>
            <a:r>
              <a:rPr lang="ko-KR" altLang="en-US" dirty="0"/>
              <a:t>선호도</a:t>
            </a:r>
            <a:r>
              <a:rPr lang="en-US" altLang="ko-KR" dirty="0"/>
              <a:t>, </a:t>
            </a:r>
            <a:r>
              <a:rPr lang="ko-KR" altLang="en-US" dirty="0"/>
              <a:t>구매</a:t>
            </a:r>
            <a:r>
              <a:rPr lang="en-US" altLang="ko-KR" dirty="0"/>
              <a:t>, </a:t>
            </a:r>
            <a:r>
              <a:rPr lang="ko-KR" altLang="en-US" dirty="0"/>
              <a:t>클릭 수</a:t>
            </a:r>
            <a:r>
              <a:rPr lang="en-US" altLang="ko-KR" dirty="0"/>
              <a:t>…)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Idea : Data</a:t>
            </a:r>
            <a:r>
              <a:rPr lang="ko-KR" altLang="en-US" dirty="0"/>
              <a:t>는 많은 사용자와 아이템과 높은 연관성을 가진다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Model : </a:t>
            </a:r>
            <a:r>
              <a:rPr lang="ko-KR" altLang="en-US" dirty="0"/>
              <a:t>사용자 기반</a:t>
            </a:r>
            <a:r>
              <a:rPr lang="en-US" altLang="ko-KR" dirty="0"/>
              <a:t>, </a:t>
            </a:r>
            <a:r>
              <a:rPr lang="ko-KR" altLang="en-US" dirty="0"/>
              <a:t>아이템 기반</a:t>
            </a:r>
            <a:r>
              <a:rPr lang="en-US" altLang="ko-KR" dirty="0"/>
              <a:t>, </a:t>
            </a:r>
            <a:r>
              <a:rPr lang="ko-KR" altLang="en-US" dirty="0"/>
              <a:t>잠재요인</a:t>
            </a:r>
            <a:r>
              <a:rPr lang="en-US" altLang="ko-KR" dirty="0"/>
              <a:t>, </a:t>
            </a:r>
            <a:r>
              <a:rPr lang="ko-KR" altLang="en-US" dirty="0"/>
              <a:t>의사결정나무</a:t>
            </a:r>
            <a:r>
              <a:rPr lang="en-US" altLang="ko-KR" dirty="0"/>
              <a:t>…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Prediction &amp; Recommend : Model</a:t>
            </a:r>
            <a:r>
              <a:rPr lang="ko-KR" altLang="en-US" dirty="0"/>
              <a:t>을 이용하여 특정 사용자에 대해 </a:t>
            </a:r>
            <a:r>
              <a:rPr lang="en-US" altLang="ko-KR" dirty="0" err="1"/>
              <a:t>FeedBack</a:t>
            </a:r>
            <a:r>
              <a:rPr lang="ko-KR" altLang="en-US" dirty="0"/>
              <a:t>이 없는 아이템 중 사용자가 선호할 가능성이 높은 아이템을 예측하여 추천 </a:t>
            </a:r>
            <a:endParaRPr lang="en-US" altLang="ko-KR" dirty="0"/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DDBE2351-4424-49EC-8572-D6693644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820" y="591342"/>
            <a:ext cx="2214881" cy="609600"/>
          </a:xfrm>
          <a:solidFill>
            <a:schemeClr val="bg1">
              <a:alpha val="0"/>
            </a:schemeClr>
          </a:solidFill>
        </p:spPr>
        <p:txBody>
          <a:bodyPr>
            <a:noAutofit/>
          </a:bodyPr>
          <a:lstStyle/>
          <a:p>
            <a:r>
              <a:rPr lang="ko-KR" altLang="en-US" sz="3200" dirty="0" err="1"/>
              <a:t>추천로직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3891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B861EDD-C187-425A-B889-ABDD20FAE9F5}"/>
              </a:ext>
            </a:extLst>
          </p:cNvPr>
          <p:cNvSpPr/>
          <p:nvPr/>
        </p:nvSpPr>
        <p:spPr>
          <a:xfrm>
            <a:off x="1190224" y="1541441"/>
            <a:ext cx="95054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</a:rPr>
              <a:t>● </a:t>
            </a:r>
            <a:r>
              <a:rPr lang="ko-KR" altLang="en-US" sz="2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잠재요인 </a:t>
            </a:r>
            <a:r>
              <a:rPr lang="en-US" altLang="ko-KR" sz="2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Model</a:t>
            </a:r>
            <a:r>
              <a:rPr lang="ko-KR" altLang="en-US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BPR-MF(Bayesian Personalized Ranking Matrix Factorization)</a:t>
            </a:r>
            <a:endParaRPr lang="en-US" altLang="ko-KR" sz="2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164D90-9E77-4B1F-9CF7-CA83693B89A6}"/>
              </a:ext>
            </a:extLst>
          </p:cNvPr>
          <p:cNvSpPr/>
          <p:nvPr/>
        </p:nvSpPr>
        <p:spPr>
          <a:xfrm>
            <a:off x="1562249" y="1969336"/>
            <a:ext cx="1963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○ </a:t>
            </a:r>
            <a:r>
              <a:rPr lang="ko-KR" altLang="en-US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유틸리티 행렬</a:t>
            </a:r>
            <a:endParaRPr lang="en-US" altLang="ko-KR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EA5CF3-BD2F-436D-BEF1-5D5DACAB1E06}"/>
              </a:ext>
            </a:extLst>
          </p:cNvPr>
          <p:cNvSpPr/>
          <p:nvPr/>
        </p:nvSpPr>
        <p:spPr>
          <a:xfrm>
            <a:off x="1562249" y="2668686"/>
            <a:ext cx="240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○ </a:t>
            </a:r>
            <a:r>
              <a:rPr lang="en-US" altLang="ko-KR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Implicit Feedback 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BC98EB3-7979-4A55-906A-C20A281B2654}"/>
              </a:ext>
            </a:extLst>
          </p:cNvPr>
          <p:cNvGrpSpPr/>
          <p:nvPr/>
        </p:nvGrpSpPr>
        <p:grpSpPr>
          <a:xfrm>
            <a:off x="3645398" y="3845995"/>
            <a:ext cx="2992581" cy="2327806"/>
            <a:chOff x="6068297" y="4336236"/>
            <a:chExt cx="2992581" cy="232780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177EA8-15E3-4F66-90E5-3EDC408C217B}"/>
                </a:ext>
              </a:extLst>
            </p:cNvPr>
            <p:cNvSpPr txBox="1"/>
            <p:nvPr/>
          </p:nvSpPr>
          <p:spPr>
            <a:xfrm>
              <a:off x="6595141" y="4779395"/>
              <a:ext cx="246573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0  1  1  .  .  .  .  0  1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1  0  0  .  .  .  .  1  0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1  0  1  .  .  .  .  0  1</a:t>
              </a:r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8D178ED-B9EF-489C-8D18-5617A9D1B7E6}"/>
                </a:ext>
              </a:extLst>
            </p:cNvPr>
            <p:cNvCxnSpPr/>
            <p:nvPr/>
          </p:nvCxnSpPr>
          <p:spPr>
            <a:xfrm>
              <a:off x="6234917" y="4696265"/>
              <a:ext cx="2770541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D6FEBBE-D972-477D-BC1C-2323A11B1857}"/>
                </a:ext>
              </a:extLst>
            </p:cNvPr>
            <p:cNvCxnSpPr/>
            <p:nvPr/>
          </p:nvCxnSpPr>
          <p:spPr>
            <a:xfrm flipV="1">
              <a:off x="6539722" y="4336236"/>
              <a:ext cx="0" cy="2327806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A4570F1-0864-408B-9A7E-6D624E662B65}"/>
                </a:ext>
              </a:extLst>
            </p:cNvPr>
            <p:cNvSpPr txBox="1"/>
            <p:nvPr/>
          </p:nvSpPr>
          <p:spPr>
            <a:xfrm>
              <a:off x="6595141" y="4350336"/>
              <a:ext cx="2465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 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 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.  .  .  .  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n-1 </a:t>
              </a:r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n</a:t>
              </a:r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B02AE7-6241-4E3C-B455-AC1DD07C750D}"/>
                </a:ext>
              </a:extLst>
            </p:cNvPr>
            <p:cNvSpPr txBox="1"/>
            <p:nvPr/>
          </p:nvSpPr>
          <p:spPr>
            <a:xfrm>
              <a:off x="6068297" y="4820960"/>
              <a:ext cx="471426" cy="1671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u</a:t>
              </a:r>
              <a:r>
                <a:rPr lang="en-US" altLang="ko-KR" sz="1100"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u</a:t>
              </a:r>
              <a:r>
                <a:rPr lang="en-US" altLang="ko-KR" sz="1100"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u</a:t>
              </a:r>
              <a:r>
                <a:rPr lang="en-US" altLang="ko-KR" sz="1100">
                  <a:latin typeface="나눔고딕" panose="020D0604000000000000" pitchFamily="50" charset="-127"/>
                  <a:ea typeface="나눔고딕" panose="020D0604000000000000" pitchFamily="50" charset="-127"/>
                </a:rPr>
                <a:t>m</a:t>
              </a:r>
              <a:endParaRPr lang="ko-KR" altLang="en-US" sz="1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D23EE91-A7A1-4E32-8AB7-82FD46BBDE77}"/>
              </a:ext>
            </a:extLst>
          </p:cNvPr>
          <p:cNvSpPr txBox="1"/>
          <p:nvPr/>
        </p:nvSpPr>
        <p:spPr>
          <a:xfrm>
            <a:off x="1716154" y="2308188"/>
            <a:ext cx="747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- </a:t>
            </a:r>
            <a:r>
              <a:rPr lang="ko-KR" altLang="en-US" sz="1600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사용자 목록을 행으로</a:t>
            </a:r>
            <a:r>
              <a:rPr lang="en-US" altLang="ko-KR" sz="1600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아이템 목록을 열로 하는 행렬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86C132-3697-47A4-8095-4197B3552EA6}"/>
              </a:ext>
            </a:extLst>
          </p:cNvPr>
          <p:cNvSpPr txBox="1"/>
          <p:nvPr/>
        </p:nvSpPr>
        <p:spPr>
          <a:xfrm>
            <a:off x="1716154" y="3022647"/>
            <a:ext cx="9570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- </a:t>
            </a:r>
            <a:r>
              <a:rPr lang="ko-KR" altLang="en-US" sz="1600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구매 이력</a:t>
            </a:r>
            <a:r>
              <a:rPr lang="en-US" altLang="ko-KR" sz="1600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클릭 수 등 아이템에 대한 사용자의 선호도를 직접적으로 파악할 수 없는 상태</a:t>
            </a:r>
            <a:endParaRPr lang="ko-KR" altLang="en-US" sz="16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50F5DC9-AF4F-46B4-A541-2C5983431BDD}"/>
              </a:ext>
            </a:extLst>
          </p:cNvPr>
          <p:cNvSpPr/>
          <p:nvPr/>
        </p:nvSpPr>
        <p:spPr>
          <a:xfrm>
            <a:off x="3383033" y="3684196"/>
            <a:ext cx="3459064" cy="25388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A3EB0FC-0D33-4A78-9F6A-1BA7D254A91E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2781629" y="4953003"/>
            <a:ext cx="601404" cy="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65B35444-C3D4-42E2-A1FE-1166D5E91652}"/>
              </a:ext>
            </a:extLst>
          </p:cNvPr>
          <p:cNvSpPr/>
          <p:nvPr/>
        </p:nvSpPr>
        <p:spPr>
          <a:xfrm>
            <a:off x="4116822" y="4229426"/>
            <a:ext cx="2465737" cy="19443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7CC16A7-8B82-4197-AEB1-E4A8A1FB0DA3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6527855" y="3868691"/>
            <a:ext cx="743227" cy="10843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257405C-F9CA-487A-88E7-47092D639D53}"/>
              </a:ext>
            </a:extLst>
          </p:cNvPr>
          <p:cNvSpPr/>
          <p:nvPr/>
        </p:nvSpPr>
        <p:spPr>
          <a:xfrm>
            <a:off x="1112689" y="4768336"/>
            <a:ext cx="165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유틸리티 행렬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822FE2-B901-4A78-B0FD-8986AF1D60C7}"/>
              </a:ext>
            </a:extLst>
          </p:cNvPr>
          <p:cNvSpPr/>
          <p:nvPr/>
        </p:nvSpPr>
        <p:spPr>
          <a:xfrm>
            <a:off x="7271082" y="3684025"/>
            <a:ext cx="2092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Implicit Feedback 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496543-0D51-437B-861E-6C928DE2D591}"/>
              </a:ext>
            </a:extLst>
          </p:cNvPr>
          <p:cNvSpPr txBox="1"/>
          <p:nvPr/>
        </p:nvSpPr>
        <p:spPr>
          <a:xfrm>
            <a:off x="7277940" y="4113833"/>
            <a:ext cx="4677337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1 : </a:t>
            </a:r>
            <a:r>
              <a:rPr lang="ko-KR" altLang="en-US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사용자가 대여한 도서  </a:t>
            </a:r>
            <a:endParaRPr lang="en-US" altLang="ko-KR" sz="1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    </a:t>
            </a:r>
            <a:r>
              <a:rPr lang="ko-KR" altLang="en-US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→ 사용자가 좋아하는 도서</a:t>
            </a:r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(Positive Sampling)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0 : </a:t>
            </a:r>
            <a:r>
              <a:rPr lang="ko-KR" altLang="en-US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사용자가 대여하지 않은 도서 </a:t>
            </a:r>
            <a:endParaRPr lang="en-US" altLang="ko-KR" sz="1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    </a:t>
            </a:r>
            <a:r>
              <a:rPr lang="ko-KR" altLang="en-US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→ 사용자가 좋아하지 않는 도서</a:t>
            </a:r>
            <a:r>
              <a:rPr lang="en-US" altLang="ko-KR" sz="1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(Negative Sampling)</a:t>
            </a:r>
          </a:p>
        </p:txBody>
      </p:sp>
      <p:sp>
        <p:nvSpPr>
          <p:cNvPr id="25" name="제목 1">
            <a:extLst>
              <a:ext uri="{FF2B5EF4-FFF2-40B4-BE49-F238E27FC236}">
                <a16:creationId xmlns:a16="http://schemas.microsoft.com/office/drawing/2014/main" id="{515E902D-B686-490D-A572-A415F8FF4E50}"/>
              </a:ext>
            </a:extLst>
          </p:cNvPr>
          <p:cNvSpPr txBox="1">
            <a:spLocks/>
          </p:cNvSpPr>
          <p:nvPr/>
        </p:nvSpPr>
        <p:spPr>
          <a:xfrm>
            <a:off x="1391820" y="591342"/>
            <a:ext cx="2214881" cy="6096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추천로직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0749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D164D90-9E77-4B1F-9CF7-CA83693B89A6}"/>
              </a:ext>
            </a:extLst>
          </p:cNvPr>
          <p:cNvSpPr/>
          <p:nvPr/>
        </p:nvSpPr>
        <p:spPr>
          <a:xfrm>
            <a:off x="1451375" y="2305053"/>
            <a:ext cx="1502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○ </a:t>
            </a:r>
            <a:r>
              <a:rPr lang="ko-KR" altLang="en-US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행렬 분해</a:t>
            </a:r>
            <a:endParaRPr lang="en-US" altLang="ko-KR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A47430-FD61-4F13-B8EE-9C446334B0CE}"/>
              </a:ext>
            </a:extLst>
          </p:cNvPr>
          <p:cNvSpPr txBox="1"/>
          <p:nvPr/>
        </p:nvSpPr>
        <p:spPr>
          <a:xfrm>
            <a:off x="1787194" y="3020136"/>
            <a:ext cx="1024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-</a:t>
            </a:r>
            <a:r>
              <a:rPr lang="ko-KR" altLang="en-US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특히 </a:t>
            </a:r>
            <a:r>
              <a:rPr lang="en-US" altLang="ko-KR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BPR </a:t>
            </a:r>
            <a:r>
              <a:rPr lang="ko-KR" altLang="en-US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행렬 분해는 </a:t>
            </a:r>
            <a:r>
              <a:rPr lang="en-US" altLang="ko-KR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Positive example</a:t>
            </a:r>
            <a:r>
              <a:rPr lang="ko-KR" altLang="en-US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과 임의 추출된 </a:t>
            </a:r>
            <a:r>
              <a:rPr lang="en-US" altLang="ko-KR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Negative example</a:t>
            </a:r>
            <a:r>
              <a:rPr lang="ko-KR" altLang="en-US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간의 </a:t>
            </a:r>
            <a:r>
              <a:rPr lang="ko-KR" altLang="en-US" sz="1600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예측값</a:t>
            </a:r>
            <a:r>
              <a:rPr lang="ko-KR" altLang="en-US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차이를 최대화한다</a:t>
            </a:r>
            <a:r>
              <a:rPr lang="en-US" altLang="ko-KR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16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5C585A2-2337-4033-9EB2-F957089A7BEE}"/>
              </a:ext>
            </a:extLst>
          </p:cNvPr>
          <p:cNvGrpSpPr/>
          <p:nvPr/>
        </p:nvGrpSpPr>
        <p:grpSpPr>
          <a:xfrm>
            <a:off x="1752604" y="3640140"/>
            <a:ext cx="2992581" cy="2327806"/>
            <a:chOff x="6068297" y="4336236"/>
            <a:chExt cx="2992581" cy="232780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7BF5E2F-B400-41B9-81EF-5FE0C207D7E5}"/>
                </a:ext>
              </a:extLst>
            </p:cNvPr>
            <p:cNvSpPr txBox="1"/>
            <p:nvPr/>
          </p:nvSpPr>
          <p:spPr>
            <a:xfrm>
              <a:off x="6595141" y="4779395"/>
              <a:ext cx="246573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0  1  1  .  .  .  .  0  1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1  0  0  .  .  .  .  1  0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1  0  1  .  .  .  .  0  1</a:t>
              </a:r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FC4C22D6-B689-44DE-BF40-98DD4C6A8DDA}"/>
                </a:ext>
              </a:extLst>
            </p:cNvPr>
            <p:cNvCxnSpPr/>
            <p:nvPr/>
          </p:nvCxnSpPr>
          <p:spPr>
            <a:xfrm>
              <a:off x="6234917" y="4696265"/>
              <a:ext cx="2770541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9A09944-34AA-46F0-868A-ECF7082F5BBC}"/>
                </a:ext>
              </a:extLst>
            </p:cNvPr>
            <p:cNvCxnSpPr/>
            <p:nvPr/>
          </p:nvCxnSpPr>
          <p:spPr>
            <a:xfrm flipV="1">
              <a:off x="6539722" y="4336236"/>
              <a:ext cx="0" cy="2327806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3A0A906-7A71-43FA-9370-05EEFA5339E3}"/>
                </a:ext>
              </a:extLst>
            </p:cNvPr>
            <p:cNvSpPr txBox="1"/>
            <p:nvPr/>
          </p:nvSpPr>
          <p:spPr>
            <a:xfrm>
              <a:off x="6595141" y="4350336"/>
              <a:ext cx="2465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 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 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.  .  .  .  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n-1 </a:t>
              </a:r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</a:t>
              </a:r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n</a:t>
              </a:r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07F2C4A-8FAE-44E2-905A-40D3817AC160}"/>
                </a:ext>
              </a:extLst>
            </p:cNvPr>
            <p:cNvSpPr txBox="1"/>
            <p:nvPr/>
          </p:nvSpPr>
          <p:spPr>
            <a:xfrm>
              <a:off x="6068297" y="4820960"/>
              <a:ext cx="471426" cy="1671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u</a:t>
              </a:r>
              <a:r>
                <a:rPr lang="en-US" altLang="ko-KR" sz="1100"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u</a:t>
              </a:r>
              <a:r>
                <a:rPr lang="en-US" altLang="ko-KR" sz="1100"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ko-KR" sz="1900">
                  <a:latin typeface="나눔고딕" panose="020D0604000000000000" pitchFamily="50" charset="-127"/>
                  <a:ea typeface="나눔고딕" panose="020D0604000000000000" pitchFamily="50" charset="-127"/>
                </a:rPr>
                <a:t>u</a:t>
              </a:r>
              <a:r>
                <a:rPr lang="en-US" altLang="ko-KR" sz="1100">
                  <a:latin typeface="나눔고딕" panose="020D0604000000000000" pitchFamily="50" charset="-127"/>
                  <a:ea typeface="나눔고딕" panose="020D0604000000000000" pitchFamily="50" charset="-127"/>
                </a:rPr>
                <a:t>m</a:t>
              </a:r>
              <a:endParaRPr lang="ko-KR" altLang="en-US" sz="1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B85C45-FFED-4D4E-B1B0-1721C9B6CD77}"/>
              </a:ext>
            </a:extLst>
          </p:cNvPr>
          <p:cNvSpPr txBox="1"/>
          <p:nvPr/>
        </p:nvSpPr>
        <p:spPr>
          <a:xfrm>
            <a:off x="6089345" y="3792780"/>
            <a:ext cx="1070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Factors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8907DE-9F71-4C91-BC97-88E755A8BAA5}"/>
              </a:ext>
            </a:extLst>
          </p:cNvPr>
          <p:cNvSpPr txBox="1"/>
          <p:nvPr/>
        </p:nvSpPr>
        <p:spPr>
          <a:xfrm rot="16200000">
            <a:off x="5151965" y="4748348"/>
            <a:ext cx="108800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Users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03AAE0-51EF-4AF0-9482-384F7267FD13}"/>
              </a:ext>
            </a:extLst>
          </p:cNvPr>
          <p:cNvSpPr txBox="1"/>
          <p:nvPr/>
        </p:nvSpPr>
        <p:spPr>
          <a:xfrm>
            <a:off x="8591775" y="3764499"/>
            <a:ext cx="1070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Factors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9CD931-527B-4DD2-B623-57D6061569F0}"/>
              </a:ext>
            </a:extLst>
          </p:cNvPr>
          <p:cNvSpPr txBox="1"/>
          <p:nvPr/>
        </p:nvSpPr>
        <p:spPr>
          <a:xfrm rot="16200000">
            <a:off x="7710957" y="4682359"/>
            <a:ext cx="108800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Factprs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CE6E98-ACB5-4622-A94D-338715C07A55}"/>
              </a:ext>
            </a:extLst>
          </p:cNvPr>
          <p:cNvSpPr txBox="1"/>
          <p:nvPr/>
        </p:nvSpPr>
        <p:spPr>
          <a:xfrm>
            <a:off x="10873899" y="3905904"/>
            <a:ext cx="1070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Books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6EA2C4-BE74-45E9-9F10-0C0E6D4C50BD}"/>
              </a:ext>
            </a:extLst>
          </p:cNvPr>
          <p:cNvSpPr txBox="1"/>
          <p:nvPr/>
        </p:nvSpPr>
        <p:spPr>
          <a:xfrm rot="16200000">
            <a:off x="10087349" y="4682360"/>
            <a:ext cx="108800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Factors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F541E6-3560-4FA1-B9A5-2C02548803B7}"/>
              </a:ext>
            </a:extLst>
          </p:cNvPr>
          <p:cNvCxnSpPr/>
          <p:nvPr/>
        </p:nvCxnSpPr>
        <p:spPr>
          <a:xfrm>
            <a:off x="4965935" y="4822853"/>
            <a:ext cx="3149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44314C5-56BF-4296-93E3-9E34072E96CC}"/>
              </a:ext>
            </a:extLst>
          </p:cNvPr>
          <p:cNvCxnSpPr/>
          <p:nvPr/>
        </p:nvCxnSpPr>
        <p:spPr>
          <a:xfrm>
            <a:off x="4965935" y="4985413"/>
            <a:ext cx="3149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42FA83B-01A4-4167-A71D-4F24EE8D1546}"/>
              </a:ext>
            </a:extLst>
          </p:cNvPr>
          <p:cNvCxnSpPr>
            <a:cxnSpLocks/>
          </p:cNvCxnSpPr>
          <p:nvPr/>
        </p:nvCxnSpPr>
        <p:spPr>
          <a:xfrm flipH="1">
            <a:off x="7697446" y="4709734"/>
            <a:ext cx="200125" cy="284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8C8ED2DD-FC2B-4AC6-B0D0-D5575F1C78E2}"/>
              </a:ext>
            </a:extLst>
          </p:cNvPr>
          <p:cNvCxnSpPr/>
          <p:nvPr/>
        </p:nvCxnSpPr>
        <p:spPr>
          <a:xfrm>
            <a:off x="7687286" y="4709734"/>
            <a:ext cx="238191" cy="284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E6205AE-4D78-423D-8626-1CAD71BEBCD4}"/>
              </a:ext>
            </a:extLst>
          </p:cNvPr>
          <p:cNvCxnSpPr>
            <a:cxnSpLocks/>
          </p:cNvCxnSpPr>
          <p:nvPr/>
        </p:nvCxnSpPr>
        <p:spPr>
          <a:xfrm flipH="1">
            <a:off x="10029013" y="4728588"/>
            <a:ext cx="200125" cy="284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894A0DC4-8517-48F4-9EFB-B07DA109C690}"/>
              </a:ext>
            </a:extLst>
          </p:cNvPr>
          <p:cNvCxnSpPr/>
          <p:nvPr/>
        </p:nvCxnSpPr>
        <p:spPr>
          <a:xfrm>
            <a:off x="10018853" y="4728588"/>
            <a:ext cx="238191" cy="284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A39316C-8161-4E59-A737-6987B84D8F59}"/>
              </a:ext>
            </a:extLst>
          </p:cNvPr>
          <p:cNvSpPr/>
          <p:nvPr/>
        </p:nvSpPr>
        <p:spPr>
          <a:xfrm>
            <a:off x="5866782" y="4162111"/>
            <a:ext cx="1622662" cy="15417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AD1F1AC-B1A8-486E-BD6E-8B087BEE0286}"/>
              </a:ext>
            </a:extLst>
          </p:cNvPr>
          <p:cNvSpPr/>
          <p:nvPr/>
        </p:nvSpPr>
        <p:spPr>
          <a:xfrm>
            <a:off x="8479440" y="4162112"/>
            <a:ext cx="1268033" cy="1541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D70C100-849C-4EF6-B2FB-444E5C4DB89F}"/>
              </a:ext>
            </a:extLst>
          </p:cNvPr>
          <p:cNvSpPr/>
          <p:nvPr/>
        </p:nvSpPr>
        <p:spPr>
          <a:xfrm>
            <a:off x="10844339" y="4275236"/>
            <a:ext cx="1036934" cy="10880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66B7EA-1FAB-46AB-8663-7034B0825A88}"/>
              </a:ext>
            </a:extLst>
          </p:cNvPr>
          <p:cNvSpPr txBox="1"/>
          <p:nvPr/>
        </p:nvSpPr>
        <p:spPr>
          <a:xfrm>
            <a:off x="1787194" y="2700454"/>
            <a:ext cx="8797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- </a:t>
            </a:r>
            <a:r>
              <a:rPr lang="ko-KR" altLang="en-US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잠재요인을 도출하는 역할을 하며 도출된 잠재요인은 예측에 사용된다</a:t>
            </a:r>
            <a:r>
              <a:rPr lang="en-US" altLang="ko-KR" sz="1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16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FAA87D7-470B-4497-B984-5F2A5352CAAF}"/>
              </a:ext>
            </a:extLst>
          </p:cNvPr>
          <p:cNvSpPr/>
          <p:nvPr/>
        </p:nvSpPr>
        <p:spPr>
          <a:xfrm>
            <a:off x="8554067" y="4262038"/>
            <a:ext cx="327200" cy="3806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660CB913-A223-445D-8DCA-CF254D64457B}"/>
              </a:ext>
            </a:extLst>
          </p:cNvPr>
          <p:cNvSpPr/>
          <p:nvPr/>
        </p:nvSpPr>
        <p:spPr>
          <a:xfrm>
            <a:off x="8890569" y="4623603"/>
            <a:ext cx="276900" cy="3215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6B8E100-9818-4C32-9F0E-084AEED32595}"/>
              </a:ext>
            </a:extLst>
          </p:cNvPr>
          <p:cNvSpPr/>
          <p:nvPr/>
        </p:nvSpPr>
        <p:spPr>
          <a:xfrm>
            <a:off x="9203863" y="4945187"/>
            <a:ext cx="200304" cy="2326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399FA2-39F9-4ADD-93FA-525373A83218}"/>
              </a:ext>
            </a:extLst>
          </p:cNvPr>
          <p:cNvSpPr txBox="1"/>
          <p:nvPr/>
        </p:nvSpPr>
        <p:spPr>
          <a:xfrm>
            <a:off x="9213290" y="4309173"/>
            <a:ext cx="20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0454985-27FE-4910-B0AB-E7FCC6D4F71B}"/>
              </a:ext>
            </a:extLst>
          </p:cNvPr>
          <p:cNvSpPr txBox="1"/>
          <p:nvPr/>
        </p:nvSpPr>
        <p:spPr>
          <a:xfrm>
            <a:off x="8581481" y="4884210"/>
            <a:ext cx="20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5" name="제목 1">
            <a:extLst>
              <a:ext uri="{FF2B5EF4-FFF2-40B4-BE49-F238E27FC236}">
                <a16:creationId xmlns:a16="http://schemas.microsoft.com/office/drawing/2014/main" id="{DC049D56-8D14-4DD2-B7A1-EC02C7D6C408}"/>
              </a:ext>
            </a:extLst>
          </p:cNvPr>
          <p:cNvSpPr txBox="1">
            <a:spLocks/>
          </p:cNvSpPr>
          <p:nvPr/>
        </p:nvSpPr>
        <p:spPr>
          <a:xfrm>
            <a:off x="1391820" y="591342"/>
            <a:ext cx="2214881" cy="6096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추천로직</a:t>
            </a:r>
            <a:endParaRPr lang="ko-KR" altLang="en-US" sz="32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2D5652F-493B-4E35-BA49-165330FD45B3}"/>
              </a:ext>
            </a:extLst>
          </p:cNvPr>
          <p:cNvSpPr/>
          <p:nvPr/>
        </p:nvSpPr>
        <p:spPr>
          <a:xfrm>
            <a:off x="1190224" y="1571921"/>
            <a:ext cx="95054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</a:rPr>
              <a:t>● </a:t>
            </a:r>
            <a:r>
              <a:rPr lang="ko-KR" altLang="en-US" sz="2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잠재요인 </a:t>
            </a:r>
            <a:r>
              <a:rPr lang="en-US" altLang="ko-KR" sz="2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Model</a:t>
            </a:r>
            <a:r>
              <a:rPr lang="ko-KR" altLang="en-US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BPR-MF(Bayesian Personalized Ranking Matrix Factorization)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2669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직사각형 94">
            <a:extLst>
              <a:ext uri="{FF2B5EF4-FFF2-40B4-BE49-F238E27FC236}">
                <a16:creationId xmlns:a16="http://schemas.microsoft.com/office/drawing/2014/main" id="{001FC9A2-7871-4923-AF82-AC0F0AB7463C}"/>
              </a:ext>
            </a:extLst>
          </p:cNvPr>
          <p:cNvSpPr/>
          <p:nvPr/>
        </p:nvSpPr>
        <p:spPr>
          <a:xfrm>
            <a:off x="1201269" y="1516529"/>
            <a:ext cx="69776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</a:rPr>
              <a:t>● 알고리즘 구현 </a:t>
            </a:r>
            <a:r>
              <a:rPr lang="en-US" altLang="ko-KR" sz="2000" dirty="0">
                <a:latin typeface="맑은 고딕" panose="020B0503020000020004" pitchFamily="50" charset="-127"/>
              </a:rPr>
              <a:t>→ </a:t>
            </a:r>
            <a:r>
              <a:rPr lang="en-US" altLang="ko-KR" sz="20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Librec</a:t>
            </a:r>
            <a:r>
              <a:rPr lang="en-US" altLang="ko-KR" sz="2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(JAVA Library)</a:t>
            </a:r>
            <a:r>
              <a:rPr lang="en-US" altLang="ko-KR" sz="2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</a:t>
            </a:r>
            <a:endParaRPr lang="en-US" altLang="ko-KR" sz="2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D32907-93E8-4977-A18C-CAAEC4DA63A3}"/>
              </a:ext>
            </a:extLst>
          </p:cNvPr>
          <p:cNvSpPr/>
          <p:nvPr/>
        </p:nvSpPr>
        <p:spPr>
          <a:xfrm>
            <a:off x="2650648" y="5722912"/>
            <a:ext cx="2208449" cy="40011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Structure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8933171-4432-4FF4-B27A-B7104E6AF3C5}"/>
              </a:ext>
            </a:extLst>
          </p:cNvPr>
          <p:cNvGrpSpPr/>
          <p:nvPr/>
        </p:nvGrpSpPr>
        <p:grpSpPr>
          <a:xfrm>
            <a:off x="2650648" y="2739347"/>
            <a:ext cx="2208449" cy="2404776"/>
            <a:chOff x="1107440" y="2178945"/>
            <a:chExt cx="2208449" cy="2404776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E23AEAA-9107-4D52-8C17-222B95F3EA5E}"/>
                </a:ext>
              </a:extLst>
            </p:cNvPr>
            <p:cNvSpPr/>
            <p:nvPr/>
          </p:nvSpPr>
          <p:spPr>
            <a:xfrm>
              <a:off x="1107440" y="2178945"/>
              <a:ext cx="2208449" cy="240477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Data</a:t>
              </a:r>
              <a:r>
                <a:rPr lang="ko-KR" altLang="en-US" dirty="0"/>
                <a:t> </a:t>
              </a:r>
              <a:r>
                <a:rPr lang="en-US" altLang="ko-KR" dirty="0"/>
                <a:t>Model</a:t>
              </a:r>
            </a:p>
            <a:p>
              <a:pPr algn="ctr"/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endParaRPr lang="ko-KR" altLang="en-US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F02E4D4-69A3-470C-AA2C-6CCAEC90A02A}"/>
                </a:ext>
              </a:extLst>
            </p:cNvPr>
            <p:cNvSpPr/>
            <p:nvPr/>
          </p:nvSpPr>
          <p:spPr>
            <a:xfrm>
              <a:off x="1505074" y="2744009"/>
              <a:ext cx="1423448" cy="452487"/>
            </a:xfrm>
            <a:prstGeom prst="roundRect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Convertor</a:t>
              </a:r>
              <a:endParaRPr lang="ko-KR" altLang="en-US" sz="1600" dirty="0"/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A6B0903F-C551-4DA0-A6AC-1B3A9D4F61DC}"/>
                </a:ext>
              </a:extLst>
            </p:cNvPr>
            <p:cNvSpPr/>
            <p:nvPr/>
          </p:nvSpPr>
          <p:spPr>
            <a:xfrm>
              <a:off x="1505074" y="3339784"/>
              <a:ext cx="1423448" cy="452487"/>
            </a:xfrm>
            <a:prstGeom prst="roundRect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err="1"/>
                <a:t>Spliter</a:t>
              </a:r>
              <a:endParaRPr lang="ko-KR" altLang="en-US" sz="1600" dirty="0"/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8968B987-8C86-4186-AE2F-3183B1B18876}"/>
                </a:ext>
              </a:extLst>
            </p:cNvPr>
            <p:cNvSpPr/>
            <p:nvPr/>
          </p:nvSpPr>
          <p:spPr>
            <a:xfrm>
              <a:off x="1505074" y="3909931"/>
              <a:ext cx="1423448" cy="452487"/>
            </a:xfrm>
            <a:prstGeom prst="roundRect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err="1"/>
                <a:t>Appender</a:t>
              </a:r>
              <a:endParaRPr lang="ko-KR" altLang="en-US" sz="1600" dirty="0"/>
            </a:p>
          </p:txBody>
        </p:sp>
      </p:grpSp>
      <p:sp>
        <p:nvSpPr>
          <p:cNvPr id="69" name="줄무늬가 있는 오른쪽 화살표 25">
            <a:extLst>
              <a:ext uri="{FF2B5EF4-FFF2-40B4-BE49-F238E27FC236}">
                <a16:creationId xmlns:a16="http://schemas.microsoft.com/office/drawing/2014/main" id="{A9189421-10DF-4278-8A6A-C1FE27159B2C}"/>
              </a:ext>
            </a:extLst>
          </p:cNvPr>
          <p:cNvSpPr/>
          <p:nvPr/>
        </p:nvSpPr>
        <p:spPr>
          <a:xfrm rot="16200000">
            <a:off x="3540608" y="5237138"/>
            <a:ext cx="428528" cy="394008"/>
          </a:xfrm>
          <a:prstGeom prst="striped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줄무늬가 있는 오른쪽 화살표 25">
            <a:extLst>
              <a:ext uri="{FF2B5EF4-FFF2-40B4-BE49-F238E27FC236}">
                <a16:creationId xmlns:a16="http://schemas.microsoft.com/office/drawing/2014/main" id="{103463F1-93C8-45D3-8922-17F0135E5930}"/>
              </a:ext>
            </a:extLst>
          </p:cNvPr>
          <p:cNvSpPr/>
          <p:nvPr/>
        </p:nvSpPr>
        <p:spPr>
          <a:xfrm>
            <a:off x="5086791" y="3219681"/>
            <a:ext cx="945407" cy="611910"/>
          </a:xfrm>
          <a:prstGeom prst="striped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4B699A-0042-48C3-859F-A51974E2F833}"/>
              </a:ext>
            </a:extLst>
          </p:cNvPr>
          <p:cNvSpPr/>
          <p:nvPr/>
        </p:nvSpPr>
        <p:spPr>
          <a:xfrm>
            <a:off x="6327779" y="5549770"/>
            <a:ext cx="4949073" cy="549407"/>
          </a:xfrm>
          <a:prstGeom prst="rect">
            <a:avLst/>
          </a:prstGeom>
          <a:solidFill>
            <a:srgbClr val="3333C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Recommed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E24523-ED12-4174-A1A9-3CA411365044}"/>
              </a:ext>
            </a:extLst>
          </p:cNvPr>
          <p:cNvSpPr/>
          <p:nvPr/>
        </p:nvSpPr>
        <p:spPr>
          <a:xfrm>
            <a:off x="6327777" y="2740920"/>
            <a:ext cx="4949073" cy="160494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Recommender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60F275FA-FC0A-4BA9-B785-258B5228B81A}"/>
              </a:ext>
            </a:extLst>
          </p:cNvPr>
          <p:cNvSpPr/>
          <p:nvPr/>
        </p:nvSpPr>
        <p:spPr>
          <a:xfrm>
            <a:off x="7027769" y="3193904"/>
            <a:ext cx="1423448" cy="45248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Inference</a:t>
            </a:r>
            <a:endParaRPr lang="ko-KR" altLang="en-US" sz="16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88BA15A1-F5E7-47EF-9BD3-2A4CA64E6F3F}"/>
              </a:ext>
            </a:extLst>
          </p:cNvPr>
          <p:cNvSpPr/>
          <p:nvPr/>
        </p:nvSpPr>
        <p:spPr>
          <a:xfrm>
            <a:off x="7027769" y="3789679"/>
            <a:ext cx="1423448" cy="45248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similarity</a:t>
            </a:r>
            <a:endParaRPr lang="ko-KR" altLang="en-US" sz="16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CB1CD6A-72F1-47DD-8238-2F2A22994181}"/>
              </a:ext>
            </a:extLst>
          </p:cNvPr>
          <p:cNvSpPr/>
          <p:nvPr/>
        </p:nvSpPr>
        <p:spPr>
          <a:xfrm>
            <a:off x="9173414" y="3178520"/>
            <a:ext cx="1423448" cy="45248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Prediction</a:t>
            </a:r>
            <a:endParaRPr lang="ko-KR" altLang="en-US" sz="16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0C758177-D7A6-4B38-93B7-C5439ECEF7DE}"/>
              </a:ext>
            </a:extLst>
          </p:cNvPr>
          <p:cNvSpPr/>
          <p:nvPr/>
        </p:nvSpPr>
        <p:spPr>
          <a:xfrm>
            <a:off x="9173414" y="3789679"/>
            <a:ext cx="1423448" cy="45248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Persistence</a:t>
            </a:r>
            <a:endParaRPr lang="ko-KR" altLang="en-US" sz="16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12A692-6E41-4B84-AB90-3E91BDD10205}"/>
              </a:ext>
            </a:extLst>
          </p:cNvPr>
          <p:cNvSpPr/>
          <p:nvPr/>
        </p:nvSpPr>
        <p:spPr>
          <a:xfrm>
            <a:off x="6327777" y="4738249"/>
            <a:ext cx="2398493" cy="4475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Evaluator</a:t>
            </a:r>
            <a:endParaRPr lang="ko-KR" altLang="en-US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D5534DE-DAB6-48B9-AC5B-25C1489F2B02}"/>
              </a:ext>
            </a:extLst>
          </p:cNvPr>
          <p:cNvSpPr/>
          <p:nvPr/>
        </p:nvSpPr>
        <p:spPr>
          <a:xfrm>
            <a:off x="8878358" y="4738249"/>
            <a:ext cx="2398493" cy="4475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Filter</a:t>
            </a:r>
            <a:endParaRPr lang="ko-KR" altLang="en-US" dirty="0"/>
          </a:p>
        </p:txBody>
      </p:sp>
      <p:sp>
        <p:nvSpPr>
          <p:cNvPr id="81" name="줄무늬가 있는 오른쪽 화살표 25">
            <a:extLst>
              <a:ext uri="{FF2B5EF4-FFF2-40B4-BE49-F238E27FC236}">
                <a16:creationId xmlns:a16="http://schemas.microsoft.com/office/drawing/2014/main" id="{1FF1D9D5-FB51-4E15-A720-825CA669D8B3}"/>
              </a:ext>
            </a:extLst>
          </p:cNvPr>
          <p:cNvSpPr/>
          <p:nvPr/>
        </p:nvSpPr>
        <p:spPr>
          <a:xfrm rot="5400000">
            <a:off x="8648969" y="4427581"/>
            <a:ext cx="307073" cy="271697"/>
          </a:xfrm>
          <a:prstGeom prst="striped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줄무늬가 있는 오른쪽 화살표 25">
            <a:extLst>
              <a:ext uri="{FF2B5EF4-FFF2-40B4-BE49-F238E27FC236}">
                <a16:creationId xmlns:a16="http://schemas.microsoft.com/office/drawing/2014/main" id="{390ED7DC-20F9-4D19-A6A5-43F331F987E0}"/>
              </a:ext>
            </a:extLst>
          </p:cNvPr>
          <p:cNvSpPr/>
          <p:nvPr/>
        </p:nvSpPr>
        <p:spPr>
          <a:xfrm rot="5400000">
            <a:off x="9924067" y="5237640"/>
            <a:ext cx="307073" cy="271697"/>
          </a:xfrm>
          <a:prstGeom prst="striped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그리기, 음식, 머그이(가) 표시된 사진&#10;&#10;자동 생성된 설명">
            <a:extLst>
              <a:ext uri="{FF2B5EF4-FFF2-40B4-BE49-F238E27FC236}">
                <a16:creationId xmlns:a16="http://schemas.microsoft.com/office/drawing/2014/main" id="{0136B8C2-2A28-491C-8914-3D99AE778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174" y="1912534"/>
            <a:ext cx="1665484" cy="885353"/>
          </a:xfrm>
          <a:prstGeom prst="rect">
            <a:avLst/>
          </a:prstGeom>
        </p:spPr>
      </p:pic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6B0E745-CB6C-4D28-A956-E8D41D26BAE3}"/>
              </a:ext>
            </a:extLst>
          </p:cNvPr>
          <p:cNvCxnSpPr>
            <a:cxnSpLocks/>
          </p:cNvCxnSpPr>
          <p:nvPr/>
        </p:nvCxnSpPr>
        <p:spPr>
          <a:xfrm>
            <a:off x="1766585" y="2355210"/>
            <a:ext cx="17350" cy="3846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56DEF6C9-71DF-41A3-8B78-6C7AEF0D48B5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65464" y="2355210"/>
            <a:ext cx="18271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1F833DC-BD81-48C5-9DCD-D6D1B9360866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613658" y="2312644"/>
            <a:ext cx="8264010" cy="42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16B98AE5-331B-4A82-912A-0EA3DFEABED1}"/>
              </a:ext>
            </a:extLst>
          </p:cNvPr>
          <p:cNvCxnSpPr>
            <a:cxnSpLocks/>
          </p:cNvCxnSpPr>
          <p:nvPr/>
        </p:nvCxnSpPr>
        <p:spPr>
          <a:xfrm>
            <a:off x="11877668" y="2318904"/>
            <a:ext cx="0" cy="3846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E981C9C-C86B-4FC5-B964-381E687F4B8A}"/>
              </a:ext>
            </a:extLst>
          </p:cNvPr>
          <p:cNvCxnSpPr>
            <a:cxnSpLocks/>
          </p:cNvCxnSpPr>
          <p:nvPr/>
        </p:nvCxnSpPr>
        <p:spPr>
          <a:xfrm flipH="1">
            <a:off x="1783936" y="6165588"/>
            <a:ext cx="10093732" cy="36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제목 1">
            <a:extLst>
              <a:ext uri="{FF2B5EF4-FFF2-40B4-BE49-F238E27FC236}">
                <a16:creationId xmlns:a16="http://schemas.microsoft.com/office/drawing/2014/main" id="{B0BA50CE-6410-4663-B4E9-5227ACD5CF7A}"/>
              </a:ext>
            </a:extLst>
          </p:cNvPr>
          <p:cNvSpPr txBox="1">
            <a:spLocks/>
          </p:cNvSpPr>
          <p:nvPr/>
        </p:nvSpPr>
        <p:spPr>
          <a:xfrm>
            <a:off x="1391820" y="591342"/>
            <a:ext cx="2214881" cy="6096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추천로직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7808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B0CC6F1-8F81-46E1-A6F1-B36824CE565E}"/>
              </a:ext>
            </a:extLst>
          </p:cNvPr>
          <p:cNvSpPr/>
          <p:nvPr/>
        </p:nvSpPr>
        <p:spPr>
          <a:xfrm>
            <a:off x="2138979" y="2470368"/>
            <a:ext cx="726141" cy="52891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C821E-6BF5-4BED-A4C3-885F65CF31D5}"/>
              </a:ext>
            </a:extLst>
          </p:cNvPr>
          <p:cNvSpPr txBox="1"/>
          <p:nvPr/>
        </p:nvSpPr>
        <p:spPr>
          <a:xfrm>
            <a:off x="2138979" y="2551363"/>
            <a:ext cx="72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도서</a:t>
            </a:r>
          </a:p>
        </p:txBody>
      </p:sp>
      <p:sp>
        <p:nvSpPr>
          <p:cNvPr id="6" name="순서도: 판단 5">
            <a:extLst>
              <a:ext uri="{FF2B5EF4-FFF2-40B4-BE49-F238E27FC236}">
                <a16:creationId xmlns:a16="http://schemas.microsoft.com/office/drawing/2014/main" id="{D69C786F-0F65-4E6D-8DBA-C39DEDC0D849}"/>
              </a:ext>
            </a:extLst>
          </p:cNvPr>
          <p:cNvSpPr/>
          <p:nvPr/>
        </p:nvSpPr>
        <p:spPr>
          <a:xfrm>
            <a:off x="7965440" y="2175443"/>
            <a:ext cx="1361440" cy="779929"/>
          </a:xfrm>
          <a:prstGeom prst="flowChartDecision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A32F7-AD18-4AFB-B845-990AE9F7FEC0}"/>
              </a:ext>
            </a:extLst>
          </p:cNvPr>
          <p:cNvSpPr txBox="1"/>
          <p:nvPr/>
        </p:nvSpPr>
        <p:spPr>
          <a:xfrm>
            <a:off x="8300720" y="2365495"/>
            <a:ext cx="69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B2D185-7CEC-4E15-A32A-AB93645B360E}"/>
              </a:ext>
            </a:extLst>
          </p:cNvPr>
          <p:cNvSpPr/>
          <p:nvPr/>
        </p:nvSpPr>
        <p:spPr>
          <a:xfrm>
            <a:off x="2865120" y="4406146"/>
            <a:ext cx="853440" cy="4978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2EE53-171A-4024-8648-A04420E4BDA0}"/>
              </a:ext>
            </a:extLst>
          </p:cNvPr>
          <p:cNvSpPr txBox="1"/>
          <p:nvPr/>
        </p:nvSpPr>
        <p:spPr>
          <a:xfrm>
            <a:off x="2865120" y="4470400"/>
            <a:ext cx="92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4BAC7E-DDBE-49C3-9973-5468550BD12B}"/>
              </a:ext>
            </a:extLst>
          </p:cNvPr>
          <p:cNvSpPr/>
          <p:nvPr/>
        </p:nvSpPr>
        <p:spPr>
          <a:xfrm>
            <a:off x="6197600" y="4470400"/>
            <a:ext cx="853440" cy="4978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A4D31-47D4-42CF-9468-30928CDF2F17}"/>
              </a:ext>
            </a:extLst>
          </p:cNvPr>
          <p:cNvSpPr txBox="1"/>
          <p:nvPr/>
        </p:nvSpPr>
        <p:spPr>
          <a:xfrm>
            <a:off x="6197600" y="4534654"/>
            <a:ext cx="92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관리자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9B8396-95AD-4764-A77F-842208313569}"/>
              </a:ext>
            </a:extLst>
          </p:cNvPr>
          <p:cNvSpPr/>
          <p:nvPr/>
        </p:nvSpPr>
        <p:spPr>
          <a:xfrm>
            <a:off x="8646160" y="5334000"/>
            <a:ext cx="853440" cy="4978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580767-6C4D-475E-B5D2-800C072E8C00}"/>
              </a:ext>
            </a:extLst>
          </p:cNvPr>
          <p:cNvSpPr txBox="1"/>
          <p:nvPr/>
        </p:nvSpPr>
        <p:spPr>
          <a:xfrm>
            <a:off x="8646160" y="5398254"/>
            <a:ext cx="92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게시판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2A18315-FCCA-4968-BFFC-B971CDE17399}"/>
              </a:ext>
            </a:extLst>
          </p:cNvPr>
          <p:cNvSpPr/>
          <p:nvPr/>
        </p:nvSpPr>
        <p:spPr>
          <a:xfrm>
            <a:off x="4003040" y="3362960"/>
            <a:ext cx="79248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932D50-973A-49DD-A42E-A169AB10001E}"/>
              </a:ext>
            </a:extLst>
          </p:cNvPr>
          <p:cNvSpPr txBox="1"/>
          <p:nvPr/>
        </p:nvSpPr>
        <p:spPr>
          <a:xfrm>
            <a:off x="3962400" y="343408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출판사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96B510D-E392-4A5B-81E8-DD9D4F65A7B9}"/>
              </a:ext>
            </a:extLst>
          </p:cNvPr>
          <p:cNvSpPr/>
          <p:nvPr/>
        </p:nvSpPr>
        <p:spPr>
          <a:xfrm>
            <a:off x="3088640" y="3348461"/>
            <a:ext cx="79248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03DEE6-E0CE-4336-A953-4FD4AB935963}"/>
              </a:ext>
            </a:extLst>
          </p:cNvPr>
          <p:cNvSpPr txBox="1"/>
          <p:nvPr/>
        </p:nvSpPr>
        <p:spPr>
          <a:xfrm>
            <a:off x="3114040" y="3407635"/>
            <a:ext cx="74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저자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098E76-E5DD-48B1-8C2E-AFC67AFC0760}"/>
              </a:ext>
            </a:extLst>
          </p:cNvPr>
          <p:cNvSpPr/>
          <p:nvPr/>
        </p:nvSpPr>
        <p:spPr>
          <a:xfrm>
            <a:off x="2092960" y="3362960"/>
            <a:ext cx="79248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DD82BB-EB04-4583-AB57-07A1B6EC8282}"/>
              </a:ext>
            </a:extLst>
          </p:cNvPr>
          <p:cNvSpPr txBox="1"/>
          <p:nvPr/>
        </p:nvSpPr>
        <p:spPr>
          <a:xfrm>
            <a:off x="2052320" y="343408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키워드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0E1214E-C9EE-4CC0-975F-35AF0E3160E5}"/>
              </a:ext>
            </a:extLst>
          </p:cNvPr>
          <p:cNvSpPr/>
          <p:nvPr/>
        </p:nvSpPr>
        <p:spPr>
          <a:xfrm>
            <a:off x="1097280" y="3362960"/>
            <a:ext cx="79248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703040-AB78-4D2A-97ED-F0984EDC2C79}"/>
              </a:ext>
            </a:extLst>
          </p:cNvPr>
          <p:cNvSpPr txBox="1"/>
          <p:nvPr/>
        </p:nvSpPr>
        <p:spPr>
          <a:xfrm>
            <a:off x="1056640" y="343408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목차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845BE08-B7A3-4702-96A7-D5EAF2319852}"/>
              </a:ext>
            </a:extLst>
          </p:cNvPr>
          <p:cNvSpPr/>
          <p:nvPr/>
        </p:nvSpPr>
        <p:spPr>
          <a:xfrm>
            <a:off x="940098" y="2721692"/>
            <a:ext cx="1041101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9387A9-7CD0-4DAE-8F03-07E4F45AFFC8}"/>
              </a:ext>
            </a:extLst>
          </p:cNvPr>
          <p:cNvSpPr txBox="1"/>
          <p:nvPr/>
        </p:nvSpPr>
        <p:spPr>
          <a:xfrm>
            <a:off x="899458" y="2792812"/>
            <a:ext cx="1122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청구기호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74F81B0-5E6A-4EB7-9DD2-132B26933008}"/>
              </a:ext>
            </a:extLst>
          </p:cNvPr>
          <p:cNvSpPr/>
          <p:nvPr/>
        </p:nvSpPr>
        <p:spPr>
          <a:xfrm>
            <a:off x="970577" y="2039784"/>
            <a:ext cx="1000461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B1C450-F9C6-45C7-BDBB-B0CBBD84A80C}"/>
              </a:ext>
            </a:extLst>
          </p:cNvPr>
          <p:cNvSpPr txBox="1"/>
          <p:nvPr/>
        </p:nvSpPr>
        <p:spPr>
          <a:xfrm>
            <a:off x="919777" y="2121064"/>
            <a:ext cx="120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소장분관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DDAAF68-FDE3-4829-9D98-3198B22A8507}"/>
              </a:ext>
            </a:extLst>
          </p:cNvPr>
          <p:cNvSpPr/>
          <p:nvPr/>
        </p:nvSpPr>
        <p:spPr>
          <a:xfrm>
            <a:off x="2138978" y="1797128"/>
            <a:ext cx="79248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E6AB0E-B923-4DAE-8988-9B1DFB13B6B8}"/>
              </a:ext>
            </a:extLst>
          </p:cNvPr>
          <p:cNvSpPr txBox="1"/>
          <p:nvPr/>
        </p:nvSpPr>
        <p:spPr>
          <a:xfrm>
            <a:off x="2098338" y="186824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자료명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DA575C0-1582-4788-90F9-FB54DD1A5D98}"/>
              </a:ext>
            </a:extLst>
          </p:cNvPr>
          <p:cNvSpPr/>
          <p:nvPr/>
        </p:nvSpPr>
        <p:spPr>
          <a:xfrm>
            <a:off x="3180678" y="1797128"/>
            <a:ext cx="1015402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59810B-3B60-4CAE-BB5A-64E5ED99A7E4}"/>
              </a:ext>
            </a:extLst>
          </p:cNvPr>
          <p:cNvSpPr txBox="1"/>
          <p:nvPr/>
        </p:nvSpPr>
        <p:spPr>
          <a:xfrm>
            <a:off x="3140037" y="1868248"/>
            <a:ext cx="120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등록번호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F25E211-8576-4C4D-A40B-740EBE07DAB2}"/>
              </a:ext>
            </a:extLst>
          </p:cNvPr>
          <p:cNvSpPr/>
          <p:nvPr/>
        </p:nvSpPr>
        <p:spPr>
          <a:xfrm>
            <a:off x="4358938" y="1797128"/>
            <a:ext cx="138146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BF6AFA-C8F0-4F58-8EFC-C71ED42488C4}"/>
              </a:ext>
            </a:extLst>
          </p:cNvPr>
          <p:cNvSpPr txBox="1"/>
          <p:nvPr/>
        </p:nvSpPr>
        <p:spPr>
          <a:xfrm>
            <a:off x="4358938" y="1868248"/>
            <a:ext cx="142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컨텐츠 번호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85BEB1A-F19C-4167-BF1A-9254375B8A8D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865120" y="2565408"/>
            <a:ext cx="5100320" cy="170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37482EC-E8E8-4818-8621-2D5E439814E9}"/>
              </a:ext>
            </a:extLst>
          </p:cNvPr>
          <p:cNvCxnSpPr>
            <a:endCxn id="30" idx="4"/>
          </p:cNvCxnSpPr>
          <p:nvPr/>
        </p:nvCxnSpPr>
        <p:spPr>
          <a:xfrm flipV="1">
            <a:off x="2865120" y="2284808"/>
            <a:ext cx="2184548" cy="266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C682DC0-E553-4BE0-8C20-A8A66BAD34D6}"/>
              </a:ext>
            </a:extLst>
          </p:cNvPr>
          <p:cNvCxnSpPr>
            <a:stCxn id="3" idx="0"/>
            <a:endCxn id="28" idx="4"/>
          </p:cNvCxnSpPr>
          <p:nvPr/>
        </p:nvCxnSpPr>
        <p:spPr>
          <a:xfrm flipV="1">
            <a:off x="2502050" y="2284808"/>
            <a:ext cx="1186329" cy="185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7622D6C-7C34-4C64-BDB9-33E02B582201}"/>
              </a:ext>
            </a:extLst>
          </p:cNvPr>
          <p:cNvCxnSpPr>
            <a:stCxn id="3" idx="0"/>
            <a:endCxn id="26" idx="4"/>
          </p:cNvCxnSpPr>
          <p:nvPr/>
        </p:nvCxnSpPr>
        <p:spPr>
          <a:xfrm flipV="1">
            <a:off x="2502050" y="2284808"/>
            <a:ext cx="33168" cy="185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EE0296A-6076-49FF-B5AA-658D7FAAD856}"/>
              </a:ext>
            </a:extLst>
          </p:cNvPr>
          <p:cNvCxnSpPr>
            <a:stCxn id="5" idx="1"/>
            <a:endCxn id="24" idx="4"/>
          </p:cNvCxnSpPr>
          <p:nvPr/>
        </p:nvCxnSpPr>
        <p:spPr>
          <a:xfrm flipH="1" flipV="1">
            <a:off x="1470808" y="2527464"/>
            <a:ext cx="668171" cy="20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F851661-E8B1-4E8E-8DAB-566EC75EC9C8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1971038" y="2736029"/>
            <a:ext cx="167941" cy="184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DE3C5A0-64FD-4419-8315-9636828D3814}"/>
              </a:ext>
            </a:extLst>
          </p:cNvPr>
          <p:cNvCxnSpPr>
            <a:endCxn id="20" idx="0"/>
          </p:cNvCxnSpPr>
          <p:nvPr/>
        </p:nvCxnSpPr>
        <p:spPr>
          <a:xfrm flipH="1">
            <a:off x="1493520" y="2999285"/>
            <a:ext cx="833120" cy="363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5DED7C8-709A-43A4-ACC5-ED819EA60244}"/>
              </a:ext>
            </a:extLst>
          </p:cNvPr>
          <p:cNvCxnSpPr>
            <a:stCxn id="3" idx="2"/>
            <a:endCxn id="18" idx="0"/>
          </p:cNvCxnSpPr>
          <p:nvPr/>
        </p:nvCxnSpPr>
        <p:spPr>
          <a:xfrm flipH="1">
            <a:off x="2489200" y="2999285"/>
            <a:ext cx="12850" cy="363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42AA13C-A553-41AE-A446-F957E52A4022}"/>
              </a:ext>
            </a:extLst>
          </p:cNvPr>
          <p:cNvCxnSpPr>
            <a:endCxn id="16" idx="1"/>
          </p:cNvCxnSpPr>
          <p:nvPr/>
        </p:nvCxnSpPr>
        <p:spPr>
          <a:xfrm>
            <a:off x="2651760" y="2999285"/>
            <a:ext cx="552936" cy="420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9D49283-04EE-443D-945B-C7F85BCA290E}"/>
              </a:ext>
            </a:extLst>
          </p:cNvPr>
          <p:cNvCxnSpPr>
            <a:endCxn id="14" idx="0"/>
          </p:cNvCxnSpPr>
          <p:nvPr/>
        </p:nvCxnSpPr>
        <p:spPr>
          <a:xfrm>
            <a:off x="2865120" y="2920695"/>
            <a:ext cx="1534160" cy="442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F7D05E1D-C15B-44EC-B1FE-63E4797715AB}"/>
              </a:ext>
            </a:extLst>
          </p:cNvPr>
          <p:cNvSpPr/>
          <p:nvPr/>
        </p:nvSpPr>
        <p:spPr>
          <a:xfrm>
            <a:off x="1097280" y="4428568"/>
            <a:ext cx="67056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673155-32F0-4FC5-8835-0A6250275431}"/>
              </a:ext>
            </a:extLst>
          </p:cNvPr>
          <p:cNvSpPr txBox="1"/>
          <p:nvPr/>
        </p:nvSpPr>
        <p:spPr>
          <a:xfrm>
            <a:off x="1173406" y="4470400"/>
            <a:ext cx="51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 </a:t>
            </a:r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7FB9CA5-1713-4967-9269-8722ABB93BFB}"/>
              </a:ext>
            </a:extLst>
          </p:cNvPr>
          <p:cNvSpPr/>
          <p:nvPr/>
        </p:nvSpPr>
        <p:spPr>
          <a:xfrm>
            <a:off x="1176169" y="5169654"/>
            <a:ext cx="876151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14F4FE-FBC6-4D05-BCED-98FD343CB917}"/>
              </a:ext>
            </a:extLst>
          </p:cNvPr>
          <p:cNvSpPr txBox="1"/>
          <p:nvPr/>
        </p:nvSpPr>
        <p:spPr>
          <a:xfrm>
            <a:off x="1272761" y="5216882"/>
            <a:ext cx="713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대학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34274ACC-C561-458A-8088-F95B01EBA13E}"/>
              </a:ext>
            </a:extLst>
          </p:cNvPr>
          <p:cNvSpPr/>
          <p:nvPr/>
        </p:nvSpPr>
        <p:spPr>
          <a:xfrm>
            <a:off x="2082944" y="5507401"/>
            <a:ext cx="802496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7D4405-D538-46C6-A1DF-903DA466C96A}"/>
              </a:ext>
            </a:extLst>
          </p:cNvPr>
          <p:cNvSpPr txBox="1"/>
          <p:nvPr/>
        </p:nvSpPr>
        <p:spPr>
          <a:xfrm>
            <a:off x="2151601" y="5566575"/>
            <a:ext cx="700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전공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0BAE38B5-E2B5-400C-97F0-529784AEDF8B}"/>
              </a:ext>
            </a:extLst>
          </p:cNvPr>
          <p:cNvSpPr/>
          <p:nvPr/>
        </p:nvSpPr>
        <p:spPr>
          <a:xfrm>
            <a:off x="2916366" y="5739295"/>
            <a:ext cx="802194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B66F53-804C-4AC3-A02A-DAA4F279F27C}"/>
              </a:ext>
            </a:extLst>
          </p:cNvPr>
          <p:cNvSpPr txBox="1"/>
          <p:nvPr/>
        </p:nvSpPr>
        <p:spPr>
          <a:xfrm>
            <a:off x="2997423" y="5810415"/>
            <a:ext cx="659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암호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949810AA-FAC9-4022-94DE-2DC901B5969C}"/>
              </a:ext>
            </a:extLst>
          </p:cNvPr>
          <p:cNvSpPr/>
          <p:nvPr/>
        </p:nvSpPr>
        <p:spPr>
          <a:xfrm>
            <a:off x="3683449" y="5251615"/>
            <a:ext cx="79248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79806B-9F75-4696-B67A-94FFC0F8FD5D}"/>
              </a:ext>
            </a:extLst>
          </p:cNvPr>
          <p:cNvSpPr txBox="1"/>
          <p:nvPr/>
        </p:nvSpPr>
        <p:spPr>
          <a:xfrm>
            <a:off x="3738653" y="5322735"/>
            <a:ext cx="665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신분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F923051C-E577-4EA8-A08A-6A2ACBA94E8A}"/>
              </a:ext>
            </a:extLst>
          </p:cNvPr>
          <p:cNvCxnSpPr>
            <a:stCxn id="53" idx="6"/>
            <a:endCxn id="8" idx="1"/>
          </p:cNvCxnSpPr>
          <p:nvPr/>
        </p:nvCxnSpPr>
        <p:spPr>
          <a:xfrm flipV="1">
            <a:off x="1767840" y="4655066"/>
            <a:ext cx="1097280" cy="17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5E162CF7-F814-439A-A2B1-83109E7B7E88}"/>
              </a:ext>
            </a:extLst>
          </p:cNvPr>
          <p:cNvCxnSpPr>
            <a:endCxn id="55" idx="7"/>
          </p:cNvCxnSpPr>
          <p:nvPr/>
        </p:nvCxnSpPr>
        <p:spPr>
          <a:xfrm flipH="1">
            <a:off x="1924011" y="4805979"/>
            <a:ext cx="928486" cy="435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C051437-408A-4780-93BB-4596B835BEBB}"/>
              </a:ext>
            </a:extLst>
          </p:cNvPr>
          <p:cNvCxnSpPr>
            <a:endCxn id="57" idx="0"/>
          </p:cNvCxnSpPr>
          <p:nvPr/>
        </p:nvCxnSpPr>
        <p:spPr>
          <a:xfrm flipH="1">
            <a:off x="2484192" y="4903986"/>
            <a:ext cx="482528" cy="603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692699EA-E7CA-4A12-9B2A-4607E1421F8B}"/>
              </a:ext>
            </a:extLst>
          </p:cNvPr>
          <p:cNvCxnSpPr>
            <a:endCxn id="59" idx="0"/>
          </p:cNvCxnSpPr>
          <p:nvPr/>
        </p:nvCxnSpPr>
        <p:spPr>
          <a:xfrm>
            <a:off x="3140037" y="4916248"/>
            <a:ext cx="177426" cy="823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F6F4EDC-D4C1-487D-A96C-5353801B3A17}"/>
              </a:ext>
            </a:extLst>
          </p:cNvPr>
          <p:cNvCxnSpPr>
            <a:endCxn id="61" idx="1"/>
          </p:cNvCxnSpPr>
          <p:nvPr/>
        </p:nvCxnSpPr>
        <p:spPr>
          <a:xfrm>
            <a:off x="3484880" y="4903986"/>
            <a:ext cx="314625" cy="4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5FAD54A-087A-487D-B7F0-5C21C53DB08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728606" y="4534192"/>
            <a:ext cx="2468994" cy="185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9398F323-05FE-49AD-8E49-70FDBD68246E}"/>
              </a:ext>
            </a:extLst>
          </p:cNvPr>
          <p:cNvSpPr/>
          <p:nvPr/>
        </p:nvSpPr>
        <p:spPr>
          <a:xfrm>
            <a:off x="6817360" y="3647345"/>
            <a:ext cx="79248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3C21BE-6DEB-4200-9816-DDB62570752B}"/>
              </a:ext>
            </a:extLst>
          </p:cNvPr>
          <p:cNvSpPr txBox="1"/>
          <p:nvPr/>
        </p:nvSpPr>
        <p:spPr>
          <a:xfrm>
            <a:off x="6842760" y="3706519"/>
            <a:ext cx="74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저자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2812BEC6-5CB8-40FC-9B53-0C85057F5963}"/>
              </a:ext>
            </a:extLst>
          </p:cNvPr>
          <p:cNvCxnSpPr>
            <a:endCxn id="78" idx="3"/>
          </p:cNvCxnSpPr>
          <p:nvPr/>
        </p:nvCxnSpPr>
        <p:spPr>
          <a:xfrm flipV="1">
            <a:off x="6553200" y="4063606"/>
            <a:ext cx="380216" cy="406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순서도: 판단 81">
            <a:extLst>
              <a:ext uri="{FF2B5EF4-FFF2-40B4-BE49-F238E27FC236}">
                <a16:creationId xmlns:a16="http://schemas.microsoft.com/office/drawing/2014/main" id="{AAFA1D2F-143D-4D2F-8D8B-58AA985E3FD1}"/>
              </a:ext>
            </a:extLst>
          </p:cNvPr>
          <p:cNvSpPr/>
          <p:nvPr/>
        </p:nvSpPr>
        <p:spPr>
          <a:xfrm>
            <a:off x="8392160" y="3911016"/>
            <a:ext cx="1361440" cy="779929"/>
          </a:xfrm>
          <a:prstGeom prst="flowChartDecision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2D388C-7647-44F1-856E-B05A3035DC4D}"/>
              </a:ext>
            </a:extLst>
          </p:cNvPr>
          <p:cNvSpPr txBox="1"/>
          <p:nvPr/>
        </p:nvSpPr>
        <p:spPr>
          <a:xfrm>
            <a:off x="8727440" y="4101068"/>
            <a:ext cx="69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등록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EB14A27-9FBB-4573-8D69-DC05897478F5}"/>
              </a:ext>
            </a:extLst>
          </p:cNvPr>
          <p:cNvSpPr/>
          <p:nvPr/>
        </p:nvSpPr>
        <p:spPr>
          <a:xfrm>
            <a:off x="10647680" y="4011597"/>
            <a:ext cx="1117600" cy="4978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14B1FC9-964D-45B2-B927-7D09CFE8331E}"/>
              </a:ext>
            </a:extLst>
          </p:cNvPr>
          <p:cNvSpPr txBox="1"/>
          <p:nvPr/>
        </p:nvSpPr>
        <p:spPr>
          <a:xfrm>
            <a:off x="10647680" y="4075851"/>
            <a:ext cx="121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공지사항</a:t>
            </a:r>
            <a:endParaRPr lang="ko-KR" altLang="en-US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02ABEC96-E7E1-4378-A2C1-8F8CA0B75F3A}"/>
              </a:ext>
            </a:extLst>
          </p:cNvPr>
          <p:cNvSpPr/>
          <p:nvPr/>
        </p:nvSpPr>
        <p:spPr>
          <a:xfrm>
            <a:off x="10002518" y="4793223"/>
            <a:ext cx="1198882" cy="529512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3607A64-5178-4A1A-A100-F0B524D764E1}"/>
              </a:ext>
            </a:extLst>
          </p:cNvPr>
          <p:cNvSpPr txBox="1"/>
          <p:nvPr/>
        </p:nvSpPr>
        <p:spPr>
          <a:xfrm>
            <a:off x="10043159" y="4864343"/>
            <a:ext cx="120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고유번호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E6136EE5-5FFB-4E00-BDD9-94E0332CB789}"/>
              </a:ext>
            </a:extLst>
          </p:cNvPr>
          <p:cNvSpPr/>
          <p:nvPr/>
        </p:nvSpPr>
        <p:spPr>
          <a:xfrm>
            <a:off x="11292841" y="4753775"/>
            <a:ext cx="722669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08F31E-4288-4E3B-9499-ABE50E8EBB16}"/>
              </a:ext>
            </a:extLst>
          </p:cNvPr>
          <p:cNvSpPr txBox="1"/>
          <p:nvPr/>
        </p:nvSpPr>
        <p:spPr>
          <a:xfrm>
            <a:off x="11344239" y="4819613"/>
            <a:ext cx="72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내용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D9390C13-A43E-407A-8870-54B4D8299B03}"/>
              </a:ext>
            </a:extLst>
          </p:cNvPr>
          <p:cNvCxnSpPr>
            <a:cxnSpLocks/>
            <a:endCxn id="86" idx="0"/>
          </p:cNvCxnSpPr>
          <p:nvPr/>
        </p:nvCxnSpPr>
        <p:spPr>
          <a:xfrm flipH="1">
            <a:off x="10601959" y="4509437"/>
            <a:ext cx="360684" cy="28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96FB16BD-EA0E-4E1A-B4F8-309664BE320F}"/>
              </a:ext>
            </a:extLst>
          </p:cNvPr>
          <p:cNvCxnSpPr>
            <a:endCxn id="88" idx="0"/>
          </p:cNvCxnSpPr>
          <p:nvPr/>
        </p:nvCxnSpPr>
        <p:spPr>
          <a:xfrm>
            <a:off x="11470640" y="4509437"/>
            <a:ext cx="183536" cy="244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타원 96">
            <a:extLst>
              <a:ext uri="{FF2B5EF4-FFF2-40B4-BE49-F238E27FC236}">
                <a16:creationId xmlns:a16="http://schemas.microsoft.com/office/drawing/2014/main" id="{743B5F72-FF3F-4825-ADF7-ED8EA7869398}"/>
              </a:ext>
            </a:extLst>
          </p:cNvPr>
          <p:cNvSpPr/>
          <p:nvPr/>
        </p:nvSpPr>
        <p:spPr>
          <a:xfrm>
            <a:off x="9570496" y="3217734"/>
            <a:ext cx="1077183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CC7C0DA-00C6-40F4-9998-34DA992D453D}"/>
              </a:ext>
            </a:extLst>
          </p:cNvPr>
          <p:cNvSpPr txBox="1"/>
          <p:nvPr/>
        </p:nvSpPr>
        <p:spPr>
          <a:xfrm>
            <a:off x="9651554" y="3288854"/>
            <a:ext cx="88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등록일</a:t>
            </a: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91F5EDFD-4343-4343-A15E-3D1DD266E2D8}"/>
              </a:ext>
            </a:extLst>
          </p:cNvPr>
          <p:cNvCxnSpPr>
            <a:cxnSpLocks/>
            <a:stCxn id="97" idx="2"/>
          </p:cNvCxnSpPr>
          <p:nvPr/>
        </p:nvCxnSpPr>
        <p:spPr>
          <a:xfrm flipH="1">
            <a:off x="9326880" y="3461574"/>
            <a:ext cx="243616" cy="571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969784CE-B491-4202-A53A-E2DA9ACD1A04}"/>
              </a:ext>
            </a:extLst>
          </p:cNvPr>
          <p:cNvCxnSpPr>
            <a:stCxn id="82" idx="3"/>
            <a:endCxn id="85" idx="1"/>
          </p:cNvCxnSpPr>
          <p:nvPr/>
        </p:nvCxnSpPr>
        <p:spPr>
          <a:xfrm flipV="1">
            <a:off x="9753600" y="4260517"/>
            <a:ext cx="894080" cy="40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타원 104">
            <a:extLst>
              <a:ext uri="{FF2B5EF4-FFF2-40B4-BE49-F238E27FC236}">
                <a16:creationId xmlns:a16="http://schemas.microsoft.com/office/drawing/2014/main" id="{458278D9-108D-49F1-ACC2-ABC7A393FC72}"/>
              </a:ext>
            </a:extLst>
          </p:cNvPr>
          <p:cNvSpPr/>
          <p:nvPr/>
        </p:nvSpPr>
        <p:spPr>
          <a:xfrm>
            <a:off x="7782338" y="4701265"/>
            <a:ext cx="1005616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58E1485-F71E-4096-AA3F-160CCF0F3608}"/>
              </a:ext>
            </a:extLst>
          </p:cNvPr>
          <p:cNvSpPr txBox="1"/>
          <p:nvPr/>
        </p:nvSpPr>
        <p:spPr>
          <a:xfrm>
            <a:off x="7863394" y="4772385"/>
            <a:ext cx="92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조회수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3A953214-176D-411F-B0A8-6A92215DF28D}"/>
              </a:ext>
            </a:extLst>
          </p:cNvPr>
          <p:cNvCxnSpPr>
            <a:stCxn id="105" idx="0"/>
          </p:cNvCxnSpPr>
          <p:nvPr/>
        </p:nvCxnSpPr>
        <p:spPr>
          <a:xfrm flipV="1">
            <a:off x="8285146" y="4470400"/>
            <a:ext cx="361014" cy="230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ACC51BBB-3F96-402A-A34F-CA86A366CF98}"/>
              </a:ext>
            </a:extLst>
          </p:cNvPr>
          <p:cNvCxnSpPr>
            <a:endCxn id="82" idx="1"/>
          </p:cNvCxnSpPr>
          <p:nvPr/>
        </p:nvCxnSpPr>
        <p:spPr>
          <a:xfrm flipV="1">
            <a:off x="7051040" y="4300981"/>
            <a:ext cx="1341120" cy="208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순서도: 판단 112">
            <a:extLst>
              <a:ext uri="{FF2B5EF4-FFF2-40B4-BE49-F238E27FC236}">
                <a16:creationId xmlns:a16="http://schemas.microsoft.com/office/drawing/2014/main" id="{9C89EB4E-E949-44A3-826E-34A59A358A7E}"/>
              </a:ext>
            </a:extLst>
          </p:cNvPr>
          <p:cNvSpPr/>
          <p:nvPr/>
        </p:nvSpPr>
        <p:spPr>
          <a:xfrm>
            <a:off x="5316385" y="5276326"/>
            <a:ext cx="1361440" cy="779929"/>
          </a:xfrm>
          <a:prstGeom prst="flowChartDecision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A2B026B-7AEF-445A-93DF-79F25D90BEC5}"/>
              </a:ext>
            </a:extLst>
          </p:cNvPr>
          <p:cNvSpPr txBox="1"/>
          <p:nvPr/>
        </p:nvSpPr>
        <p:spPr>
          <a:xfrm>
            <a:off x="5651665" y="5466378"/>
            <a:ext cx="69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등록</a:t>
            </a: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1FE2744C-0A34-45D1-9D87-ED0995EBA90C}"/>
              </a:ext>
            </a:extLst>
          </p:cNvPr>
          <p:cNvCxnSpPr>
            <a:endCxn id="6" idx="2"/>
          </p:cNvCxnSpPr>
          <p:nvPr/>
        </p:nvCxnSpPr>
        <p:spPr>
          <a:xfrm flipV="1">
            <a:off x="3484880" y="2955372"/>
            <a:ext cx="5161280" cy="14507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05078689-5E16-4E8D-9B8A-24A0EF8A21A4}"/>
              </a:ext>
            </a:extLst>
          </p:cNvPr>
          <p:cNvCxnSpPr/>
          <p:nvPr/>
        </p:nvCxnSpPr>
        <p:spPr>
          <a:xfrm>
            <a:off x="3718560" y="4839732"/>
            <a:ext cx="1933105" cy="626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83E706F8-0BB1-4DC9-A80F-0853E11C6407}"/>
              </a:ext>
            </a:extLst>
          </p:cNvPr>
          <p:cNvCxnSpPr>
            <a:stCxn id="113" idx="3"/>
          </p:cNvCxnSpPr>
          <p:nvPr/>
        </p:nvCxnSpPr>
        <p:spPr>
          <a:xfrm flipV="1">
            <a:off x="6677825" y="5507401"/>
            <a:ext cx="1968335" cy="158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타원 122">
            <a:extLst>
              <a:ext uri="{FF2B5EF4-FFF2-40B4-BE49-F238E27FC236}">
                <a16:creationId xmlns:a16="http://schemas.microsoft.com/office/drawing/2014/main" id="{FEBA7819-815F-4CE2-B2C0-F8DF9F5AEAB2}"/>
              </a:ext>
            </a:extLst>
          </p:cNvPr>
          <p:cNvSpPr/>
          <p:nvPr/>
        </p:nvSpPr>
        <p:spPr>
          <a:xfrm>
            <a:off x="4477960" y="5852160"/>
            <a:ext cx="1005616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A241B8F-2311-43EA-BA36-398F6686F962}"/>
              </a:ext>
            </a:extLst>
          </p:cNvPr>
          <p:cNvSpPr txBox="1"/>
          <p:nvPr/>
        </p:nvSpPr>
        <p:spPr>
          <a:xfrm>
            <a:off x="4559016" y="5923280"/>
            <a:ext cx="92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조회수</a:t>
            </a: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BCA9A89C-D56D-40B0-B98F-654EB3D944AB}"/>
              </a:ext>
            </a:extLst>
          </p:cNvPr>
          <p:cNvSpPr/>
          <p:nvPr/>
        </p:nvSpPr>
        <p:spPr>
          <a:xfrm>
            <a:off x="6522832" y="5837663"/>
            <a:ext cx="1005616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A59708C-BB41-457E-9088-7D63F99AC59D}"/>
              </a:ext>
            </a:extLst>
          </p:cNvPr>
          <p:cNvSpPr txBox="1"/>
          <p:nvPr/>
        </p:nvSpPr>
        <p:spPr>
          <a:xfrm>
            <a:off x="6603888" y="5908783"/>
            <a:ext cx="92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조회수</a:t>
            </a: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B050448A-BB19-46BD-A4C6-9E66F3F8EDE4}"/>
              </a:ext>
            </a:extLst>
          </p:cNvPr>
          <p:cNvCxnSpPr>
            <a:cxnSpLocks/>
          </p:cNvCxnSpPr>
          <p:nvPr/>
        </p:nvCxnSpPr>
        <p:spPr>
          <a:xfrm flipV="1">
            <a:off x="5191760" y="5771422"/>
            <a:ext cx="313548" cy="87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DB79A5A2-4919-4536-B93E-3D03E1D77DC2}"/>
              </a:ext>
            </a:extLst>
          </p:cNvPr>
          <p:cNvCxnSpPr>
            <a:endCxn id="125" idx="2"/>
          </p:cNvCxnSpPr>
          <p:nvPr/>
        </p:nvCxnSpPr>
        <p:spPr>
          <a:xfrm>
            <a:off x="6197600" y="5923280"/>
            <a:ext cx="325232" cy="158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타원 131">
            <a:extLst>
              <a:ext uri="{FF2B5EF4-FFF2-40B4-BE49-F238E27FC236}">
                <a16:creationId xmlns:a16="http://schemas.microsoft.com/office/drawing/2014/main" id="{DC59BF46-4853-4A72-9ED5-9B92595A9E55}"/>
              </a:ext>
            </a:extLst>
          </p:cNvPr>
          <p:cNvSpPr/>
          <p:nvPr/>
        </p:nvSpPr>
        <p:spPr>
          <a:xfrm>
            <a:off x="9890758" y="5535401"/>
            <a:ext cx="1198882" cy="529512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848F05A-91CA-478B-99FC-49C08196E412}"/>
              </a:ext>
            </a:extLst>
          </p:cNvPr>
          <p:cNvSpPr txBox="1"/>
          <p:nvPr/>
        </p:nvSpPr>
        <p:spPr>
          <a:xfrm>
            <a:off x="9931399" y="5606521"/>
            <a:ext cx="120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고유번호</a:t>
            </a: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D0BB02AF-5E79-4A29-B8FA-6A058987388D}"/>
              </a:ext>
            </a:extLst>
          </p:cNvPr>
          <p:cNvSpPr/>
          <p:nvPr/>
        </p:nvSpPr>
        <p:spPr>
          <a:xfrm>
            <a:off x="9056985" y="4768015"/>
            <a:ext cx="722669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BEBA2BF-0016-4017-8278-AD6553EDD931}"/>
              </a:ext>
            </a:extLst>
          </p:cNvPr>
          <p:cNvSpPr txBox="1"/>
          <p:nvPr/>
        </p:nvSpPr>
        <p:spPr>
          <a:xfrm>
            <a:off x="9108383" y="4833853"/>
            <a:ext cx="72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내용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A2A8EE75-9980-4B75-ABF8-2594415F2634}"/>
              </a:ext>
            </a:extLst>
          </p:cNvPr>
          <p:cNvCxnSpPr>
            <a:stCxn id="12" idx="0"/>
            <a:endCxn id="134" idx="3"/>
          </p:cNvCxnSpPr>
          <p:nvPr/>
        </p:nvCxnSpPr>
        <p:spPr>
          <a:xfrm flipV="1">
            <a:off x="9072880" y="5184276"/>
            <a:ext cx="89937" cy="149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E27CC5B3-1576-4E52-A6A2-FAA967D24EB6}"/>
              </a:ext>
            </a:extLst>
          </p:cNvPr>
          <p:cNvCxnSpPr>
            <a:endCxn id="132" idx="2"/>
          </p:cNvCxnSpPr>
          <p:nvPr/>
        </p:nvCxnSpPr>
        <p:spPr>
          <a:xfrm flipV="1">
            <a:off x="9499600" y="5800157"/>
            <a:ext cx="391158" cy="1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타원 139">
            <a:extLst>
              <a:ext uri="{FF2B5EF4-FFF2-40B4-BE49-F238E27FC236}">
                <a16:creationId xmlns:a16="http://schemas.microsoft.com/office/drawing/2014/main" id="{E456D1B3-D18F-458A-B21C-2E9E5EB3E8F6}"/>
              </a:ext>
            </a:extLst>
          </p:cNvPr>
          <p:cNvSpPr/>
          <p:nvPr/>
        </p:nvSpPr>
        <p:spPr>
          <a:xfrm>
            <a:off x="7888644" y="5861809"/>
            <a:ext cx="722669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590E423-B56B-429B-81BA-A385872AA609}"/>
              </a:ext>
            </a:extLst>
          </p:cNvPr>
          <p:cNvSpPr txBox="1"/>
          <p:nvPr/>
        </p:nvSpPr>
        <p:spPr>
          <a:xfrm>
            <a:off x="7940042" y="5927647"/>
            <a:ext cx="72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내용</a:t>
            </a: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FC8FC95F-7CA5-488C-9CCA-608A7EFECD08}"/>
              </a:ext>
            </a:extLst>
          </p:cNvPr>
          <p:cNvCxnSpPr>
            <a:stCxn id="140" idx="0"/>
          </p:cNvCxnSpPr>
          <p:nvPr/>
        </p:nvCxnSpPr>
        <p:spPr>
          <a:xfrm flipV="1">
            <a:off x="8249979" y="5739295"/>
            <a:ext cx="396181" cy="122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타원 143">
            <a:extLst>
              <a:ext uri="{FF2B5EF4-FFF2-40B4-BE49-F238E27FC236}">
                <a16:creationId xmlns:a16="http://schemas.microsoft.com/office/drawing/2014/main" id="{63E9EE8D-447E-457F-BB6C-284CA505686D}"/>
              </a:ext>
            </a:extLst>
          </p:cNvPr>
          <p:cNvSpPr/>
          <p:nvPr/>
        </p:nvSpPr>
        <p:spPr>
          <a:xfrm>
            <a:off x="8585142" y="1238050"/>
            <a:ext cx="1077183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3EC23A0-FEA9-4E39-91B3-312F3D0214CB}"/>
              </a:ext>
            </a:extLst>
          </p:cNvPr>
          <p:cNvSpPr txBox="1"/>
          <p:nvPr/>
        </p:nvSpPr>
        <p:spPr>
          <a:xfrm>
            <a:off x="8696680" y="1319330"/>
            <a:ext cx="88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대여일</a:t>
            </a: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3FD24D9E-59C1-414F-9040-151BAA66C8A5}"/>
              </a:ext>
            </a:extLst>
          </p:cNvPr>
          <p:cNvSpPr/>
          <p:nvPr/>
        </p:nvSpPr>
        <p:spPr>
          <a:xfrm>
            <a:off x="9885460" y="1931603"/>
            <a:ext cx="1077183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A2742AC-39FD-46E0-BCAC-95A926F1ED1E}"/>
              </a:ext>
            </a:extLst>
          </p:cNvPr>
          <p:cNvSpPr txBox="1"/>
          <p:nvPr/>
        </p:nvSpPr>
        <p:spPr>
          <a:xfrm>
            <a:off x="9966518" y="2002723"/>
            <a:ext cx="88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반납일</a:t>
            </a:r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AD6830D1-B56A-4668-89FF-74E467EAF4E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646160" y="1702116"/>
            <a:ext cx="274320" cy="473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50F773AE-E217-4417-BAE6-9F0227A9D266}"/>
              </a:ext>
            </a:extLst>
          </p:cNvPr>
          <p:cNvCxnSpPr>
            <a:stCxn id="6" idx="3"/>
            <a:endCxn id="146" idx="3"/>
          </p:cNvCxnSpPr>
          <p:nvPr/>
        </p:nvCxnSpPr>
        <p:spPr>
          <a:xfrm flipV="1">
            <a:off x="9326880" y="2347864"/>
            <a:ext cx="716330" cy="217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CD39B8F4-EAA8-4208-8600-70AAEC2878F3}"/>
              </a:ext>
            </a:extLst>
          </p:cNvPr>
          <p:cNvSpPr/>
          <p:nvPr/>
        </p:nvSpPr>
        <p:spPr>
          <a:xfrm>
            <a:off x="10007598" y="1218008"/>
            <a:ext cx="792480" cy="48768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3EE83D9-6236-493B-8688-4AEF38895E70}"/>
              </a:ext>
            </a:extLst>
          </p:cNvPr>
          <p:cNvSpPr txBox="1"/>
          <p:nvPr/>
        </p:nvSpPr>
        <p:spPr>
          <a:xfrm>
            <a:off x="10032998" y="1277182"/>
            <a:ext cx="74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분류</a:t>
            </a:r>
          </a:p>
        </p:txBody>
      </p: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730A682A-AC9A-4C14-A1C6-476E929D0BC4}"/>
              </a:ext>
            </a:extLst>
          </p:cNvPr>
          <p:cNvCxnSpPr>
            <a:endCxn id="153" idx="3"/>
          </p:cNvCxnSpPr>
          <p:nvPr/>
        </p:nvCxnSpPr>
        <p:spPr>
          <a:xfrm flipV="1">
            <a:off x="8991600" y="1634269"/>
            <a:ext cx="1132054" cy="713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제목 1">
            <a:extLst>
              <a:ext uri="{FF2B5EF4-FFF2-40B4-BE49-F238E27FC236}">
                <a16:creationId xmlns:a16="http://schemas.microsoft.com/office/drawing/2014/main" id="{4E62E0F4-BC4B-4140-B7FA-70FE574EF01B}"/>
              </a:ext>
            </a:extLst>
          </p:cNvPr>
          <p:cNvSpPr txBox="1">
            <a:spLocks/>
          </p:cNvSpPr>
          <p:nvPr/>
        </p:nvSpPr>
        <p:spPr>
          <a:xfrm>
            <a:off x="1346199" y="223520"/>
            <a:ext cx="5496561" cy="6096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프로그램구성</a:t>
            </a:r>
            <a:r>
              <a:rPr lang="en-US" altLang="ko-KR" sz="3200" dirty="0"/>
              <a:t>(</a:t>
            </a:r>
            <a:r>
              <a:rPr lang="ko-KR" altLang="en-US" sz="3200" dirty="0"/>
              <a:t>개체관계모델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3088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395412"/>
            <a:ext cx="7848600" cy="4067175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72E69792-572E-409D-B718-CE3B08C89A0A}"/>
              </a:ext>
            </a:extLst>
          </p:cNvPr>
          <p:cNvSpPr txBox="1">
            <a:spLocks/>
          </p:cNvSpPr>
          <p:nvPr/>
        </p:nvSpPr>
        <p:spPr>
          <a:xfrm>
            <a:off x="1346199" y="223520"/>
            <a:ext cx="8030285" cy="6096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프로그램 구성</a:t>
            </a:r>
            <a:r>
              <a:rPr lang="en-US" altLang="ko-KR" sz="3200" dirty="0"/>
              <a:t>(DB)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9919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625" y="1580121"/>
            <a:ext cx="2711245" cy="152507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392" y="5128781"/>
            <a:ext cx="1527914" cy="152791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801" y="3251658"/>
            <a:ext cx="1730663" cy="173066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540" y="3247503"/>
            <a:ext cx="1938341" cy="173066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77" y="3251658"/>
            <a:ext cx="1730662" cy="173066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295" y="3251658"/>
            <a:ext cx="2307550" cy="173066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840" y="1580122"/>
            <a:ext cx="1527914" cy="152791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810" y="1580122"/>
            <a:ext cx="2092161" cy="152507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643" y="1580121"/>
            <a:ext cx="832771" cy="152507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027" y="1580122"/>
            <a:ext cx="2033434" cy="152507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682" y="5027407"/>
            <a:ext cx="2724190" cy="1730662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BED52E16-F80E-465C-8ADA-7960646AD969}"/>
              </a:ext>
            </a:extLst>
          </p:cNvPr>
          <p:cNvSpPr txBox="1">
            <a:spLocks/>
          </p:cNvSpPr>
          <p:nvPr/>
        </p:nvSpPr>
        <p:spPr>
          <a:xfrm>
            <a:off x="1346199" y="223520"/>
            <a:ext cx="8030285" cy="6096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개발환경</a:t>
            </a:r>
          </a:p>
        </p:txBody>
      </p:sp>
    </p:spTree>
    <p:extLst>
      <p:ext uri="{BB962C8B-B14F-4D97-AF65-F5344CB8AC3E}">
        <p14:creationId xmlns:p14="http://schemas.microsoft.com/office/powerpoint/2010/main" val="99139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1438</TotalTime>
  <Words>862</Words>
  <Application>Microsoft Office PowerPoint</Application>
  <PresentationFormat>와이드스크린</PresentationFormat>
  <Paragraphs>211</Paragraphs>
  <Slides>15</Slides>
  <Notes>1</Notes>
  <HiddenSlides>3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inherit</vt:lpstr>
      <vt:lpstr>se-nanummyeongjo</vt:lpstr>
      <vt:lpstr>나눔고딕</vt:lpstr>
      <vt:lpstr>맑은 고딕</vt:lpstr>
      <vt:lpstr>배달의민족 도현</vt:lpstr>
      <vt:lpstr>스웨거 TTF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시스템 구성(화면 구성)</vt:lpstr>
      <vt:lpstr>시스템 구성(화면 구성)</vt:lpstr>
      <vt:lpstr>추천시스템이란?</vt:lpstr>
      <vt:lpstr>추천시스템이란?</vt:lpstr>
      <vt:lpstr>개발 배경</vt:lpstr>
      <vt:lpstr>대학교 도서관 도서 추천 시스템 서비스</vt:lpstr>
      <vt:lpstr>추천로직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2조 프로젝트 최종 주제 발표</dc:title>
  <dc:creator>KIM EUNGI</dc:creator>
  <cp:lastModifiedBy>추창한</cp:lastModifiedBy>
  <cp:revision>189</cp:revision>
  <dcterms:created xsi:type="dcterms:W3CDTF">2019-10-31T12:26:12Z</dcterms:created>
  <dcterms:modified xsi:type="dcterms:W3CDTF">2020-05-05T08:33:30Z</dcterms:modified>
</cp:coreProperties>
</file>